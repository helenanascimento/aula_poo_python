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7" r:id="rId2"/>
    <p:sldId id="258" r:id="rId3"/>
    <p:sldId id="259" r:id="rId4"/>
    <p:sldId id="265" r:id="rId5"/>
    <p:sldId id="260" r:id="rId6"/>
    <p:sldId id="261" r:id="rId7"/>
    <p:sldId id="262" r:id="rId8"/>
    <p:sldId id="266" r:id="rId9"/>
    <p:sldId id="264" r:id="rId10"/>
    <p:sldId id="263" r:id="rId11"/>
    <p:sldId id="267" r:id="rId12"/>
    <p:sldId id="268" r:id="rId1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4660"/>
  </p:normalViewPr>
  <p:slideViewPr>
    <p:cSldViewPr snapToGrid="0">
      <p:cViewPr varScale="1">
        <p:scale>
          <a:sx n="44" d="100"/>
          <a:sy n="44" d="100"/>
        </p:scale>
        <p:origin x="166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2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14400"/>
            <a:ext cx="10691265" cy="13075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21992"/>
            <a:ext cx="10691265" cy="37398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495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E31BA835-12AC-4E8F-955A-EA3F4DE2791F}" type="datetime1">
              <a:rPr lang="en-US" smtClean="0"/>
              <a:t>1/19/2026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04088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87E7843D-FF13-4365-9478-9625B70A2705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18734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0F87EA-7C39-E29B-FB4F-467A9F04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724" y="3429000"/>
            <a:ext cx="10283452" cy="70939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/>
              <a:t>Python – </a:t>
            </a:r>
            <a:r>
              <a:rPr lang="en-US" sz="3600" dirty="0" err="1"/>
              <a:t>pilares</a:t>
            </a:r>
            <a:r>
              <a:rPr lang="en-US" sz="3600"/>
              <a:t> da poo</a:t>
            </a:r>
            <a:endParaRPr lang="en-US" sz="3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ítulo 1">
            <a:extLst>
              <a:ext uri="{FF2B5EF4-FFF2-40B4-BE49-F238E27FC236}">
                <a16:creationId xmlns:a16="http://schemas.microsoft.com/office/drawing/2014/main" id="{1BB76DFC-5C2E-6AFF-DEBC-542AB08DBE41}"/>
              </a:ext>
            </a:extLst>
          </p:cNvPr>
          <p:cNvSpPr txBox="1">
            <a:spLocks/>
          </p:cNvSpPr>
          <p:nvPr/>
        </p:nvSpPr>
        <p:spPr>
          <a:xfrm>
            <a:off x="847724" y="1024159"/>
            <a:ext cx="10283452" cy="255724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/>
              <a:t>PROGRAMAÇÃO ORIENTADA A OBJETO (POO)</a:t>
            </a: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A1C88A2C-52E3-1B79-C8D3-8148B6EC1A2E}"/>
              </a:ext>
            </a:extLst>
          </p:cNvPr>
          <p:cNvSpPr txBox="1">
            <a:spLocks/>
          </p:cNvSpPr>
          <p:nvPr/>
        </p:nvSpPr>
        <p:spPr>
          <a:xfrm>
            <a:off x="8112642" y="5124449"/>
            <a:ext cx="3125084" cy="70939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/>
              <a:t>Prof: Helena</a:t>
            </a:r>
          </a:p>
        </p:txBody>
      </p:sp>
    </p:spTree>
    <p:extLst>
      <p:ext uri="{BB962C8B-B14F-4D97-AF65-F5344CB8AC3E}">
        <p14:creationId xmlns:p14="http://schemas.microsoft.com/office/powerpoint/2010/main" val="11944409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479833C7-FDE4-4657-B0B1-32BE833C24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15">
            <a:extLst>
              <a:ext uri="{FF2B5EF4-FFF2-40B4-BE49-F238E27FC236}">
                <a16:creationId xmlns:a16="http://schemas.microsoft.com/office/drawing/2014/main" id="{0ABE7C0B-A2D9-4202-A524-532DA2E2D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ço Reservado para Conteúdo 4" descr="Interface gráfica do usuário, Diagrama&#10;&#10;O conteúdo gerado por IA pode estar incorreto.">
            <a:extLst>
              <a:ext uri="{FF2B5EF4-FFF2-40B4-BE49-F238E27FC236}">
                <a16:creationId xmlns:a16="http://schemas.microsoft.com/office/drawing/2014/main" id="{2FAFFD7A-C7F9-4033-F053-80C6E61C93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47"/>
          <a:stretch>
            <a:fillRect/>
          </a:stretch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236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EF92653-5D6D-47E6-8744-0DAF76E049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CA98CE3-81A7-4FFE-A047-9AA65998D8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18D91C2B-BDB9-49BE-9C44-E0CFE597A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0B2D5083-0B9C-E8E8-A178-474042614848}"/>
              </a:ext>
            </a:extLst>
          </p:cNvPr>
          <p:cNvSpPr txBox="1"/>
          <p:nvPr/>
        </p:nvSpPr>
        <p:spPr>
          <a:xfrm>
            <a:off x="1286540" y="1414130"/>
            <a:ext cx="222849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Encapsulamento: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Definição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Prática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F3EECE9C-83FF-1439-EAE4-97DE0404121F}"/>
              </a:ext>
            </a:extLst>
          </p:cNvPr>
          <p:cNvSpPr txBox="1"/>
          <p:nvPr/>
        </p:nvSpPr>
        <p:spPr>
          <a:xfrm>
            <a:off x="1286540" y="2623139"/>
            <a:ext cx="19527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Herança: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Definição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Prática</a:t>
            </a:r>
          </a:p>
          <a:p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67269DC-66FF-0564-879C-229796D9266D}"/>
              </a:ext>
            </a:extLst>
          </p:cNvPr>
          <p:cNvSpPr txBox="1"/>
          <p:nvPr/>
        </p:nvSpPr>
        <p:spPr>
          <a:xfrm>
            <a:off x="1286540" y="3832148"/>
            <a:ext cx="195277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Polimorfismo: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Definição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pt-BR" dirty="0"/>
              <a:t>Prática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3152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259984-1EFE-6E4A-D094-3A6A6C02BE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394E6D42-D15E-0CFB-3541-A27AC239F9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DA53FDE6-9906-6112-0BAC-F6CF1A71E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8">
            <a:extLst>
              <a:ext uri="{FF2B5EF4-FFF2-40B4-BE49-F238E27FC236}">
                <a16:creationId xmlns:a16="http://schemas.microsoft.com/office/drawing/2014/main" id="{B223F2FC-8CA4-0370-3BF0-FFC3553AB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 descr="Gota d'água em uma pétala">
            <a:extLst>
              <a:ext uri="{FF2B5EF4-FFF2-40B4-BE49-F238E27FC236}">
                <a16:creationId xmlns:a16="http://schemas.microsoft.com/office/drawing/2014/main" id="{8C978ACD-F69B-B92A-2690-E8F3B8622CC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" t="7332" r="1755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BF4A4EAA-82F5-0BDD-6219-0B3A7ECD2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2A701F-6381-A29C-343A-3EA34CEAC2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ENCAPSULAMENTO</a:t>
            </a:r>
          </a:p>
        </p:txBody>
      </p:sp>
    </p:spTree>
    <p:extLst>
      <p:ext uri="{BB962C8B-B14F-4D97-AF65-F5344CB8AC3E}">
        <p14:creationId xmlns:p14="http://schemas.microsoft.com/office/powerpoint/2010/main" val="17383967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DB392A-AC86-34C8-47ED-321F818A5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38FA93B-C003-8702-A56A-DBA40117B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B5E60EC-B5AD-F630-ABA5-3329B5C51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04465E6-8150-0736-C576-22DCC2A99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8A040A-675B-5502-EC51-A84C9C9C9F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43DAAF2-6D41-DEC5-93C3-D37902D93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37551C87-36DF-4575-61C7-77A4074A1775}"/>
              </a:ext>
            </a:extLst>
          </p:cNvPr>
          <p:cNvSpPr txBox="1"/>
          <p:nvPr/>
        </p:nvSpPr>
        <p:spPr>
          <a:xfrm>
            <a:off x="1286540" y="1414130"/>
            <a:ext cx="93068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Por que usar encapsulamento?</a:t>
            </a:r>
          </a:p>
          <a:p>
            <a:endParaRPr lang="pt-BR" dirty="0"/>
          </a:p>
          <a:p>
            <a:pPr marL="342900" indent="-342900">
              <a:buAutoNum type="arabicPeriod"/>
            </a:pPr>
            <a:r>
              <a:rPr lang="pt-BR" dirty="0"/>
              <a:t>Segurança: Impede que o saldo de uma conta fique negativo acidentalmente.</a:t>
            </a:r>
          </a:p>
          <a:p>
            <a:endParaRPr lang="pt-BR" dirty="0"/>
          </a:p>
          <a:p>
            <a:r>
              <a:rPr lang="pt-BR" dirty="0"/>
              <a:t>2. Flexibilidade: Você pode mudar a lógica interna </a:t>
            </a:r>
          </a:p>
          <a:p>
            <a:r>
              <a:rPr lang="pt-BR" dirty="0"/>
              <a:t>(</a:t>
            </a:r>
            <a:r>
              <a:rPr lang="pt-BR" dirty="0" err="1"/>
              <a:t>ex</a:t>
            </a:r>
            <a:r>
              <a:rPr lang="pt-BR" dirty="0"/>
              <a:t>: adicionar uma taxa de saque) sem quebrar o código de quem usa a classe.</a:t>
            </a:r>
          </a:p>
          <a:p>
            <a:endParaRPr lang="pt-BR" dirty="0"/>
          </a:p>
          <a:p>
            <a:r>
              <a:rPr lang="pt-BR" dirty="0"/>
              <a:t>3. Organização: Expõe apenas o que é necessário para o "mundo exterior".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78F7F79-BF18-004B-F306-AA552F9FA893}"/>
              </a:ext>
            </a:extLst>
          </p:cNvPr>
          <p:cNvSpPr txBox="1"/>
          <p:nvPr/>
        </p:nvSpPr>
        <p:spPr>
          <a:xfrm>
            <a:off x="1286540" y="4243541"/>
            <a:ext cx="10105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Observação:</a:t>
            </a:r>
          </a:p>
          <a:p>
            <a:endParaRPr lang="pt-BR" dirty="0"/>
          </a:p>
          <a:p>
            <a:r>
              <a:rPr lang="pt-BR" dirty="0"/>
              <a:t>Em Python, o encapsulamento é baseado em </a:t>
            </a:r>
            <a:r>
              <a:rPr lang="pt-BR" b="1" dirty="0"/>
              <a:t>convenções de nomenclatura</a:t>
            </a:r>
            <a:r>
              <a:rPr lang="pt-BR" dirty="0"/>
              <a:t>, pois a linguagem não impede fisicamente o acesso aos dados como Java ou C++, mas sinaliza ao programador como ele deve interagir com os atributos.</a:t>
            </a:r>
          </a:p>
        </p:txBody>
      </p:sp>
    </p:spTree>
    <p:extLst>
      <p:ext uri="{BB962C8B-B14F-4D97-AF65-F5344CB8AC3E}">
        <p14:creationId xmlns:p14="http://schemas.microsoft.com/office/powerpoint/2010/main" val="11522046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943E8A-36F8-AE2A-ADEF-24CEB5F56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CA7A1E7-8963-43D3-D818-D0F20AE0F7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8237FE-C484-5918-1999-AFD7E3F01F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C4927AE-E22B-A6FE-515C-1A416CD294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E70DFBB-7C47-886B-AEDD-D185F743A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96C6E7A-341E-4D07-BB3C-4A25F6747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3DC5BDF3-771C-863B-66B3-2FDD14803FE4}"/>
              </a:ext>
            </a:extLst>
          </p:cNvPr>
          <p:cNvSpPr txBox="1"/>
          <p:nvPr/>
        </p:nvSpPr>
        <p:spPr>
          <a:xfrm>
            <a:off x="800100" y="1078469"/>
            <a:ext cx="9306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Exemplo: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B00BB75-2718-A200-7839-BB4773544D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894" y="1584854"/>
            <a:ext cx="4612540" cy="4194677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D01CF872-3533-1602-0B3B-0FCBB131C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6076" y="1584854"/>
            <a:ext cx="4612540" cy="126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553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25DBCE-7DD0-2597-B6CB-441D33F77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1ACA01-0EF4-3378-8488-528F2FF7A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A61272C-7D85-144B-B04A-9F08E85F6E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A9B9553-D48D-D5B4-00A4-E47107592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0831F0-AEAF-BB0B-5666-A84BD4860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1A8223-7B8C-478D-07EE-D66BF344CA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50E9FBC0-07F4-F7E3-DF05-4BD5B5251CFA}"/>
              </a:ext>
            </a:extLst>
          </p:cNvPr>
          <p:cNvSpPr txBox="1"/>
          <p:nvPr/>
        </p:nvSpPr>
        <p:spPr>
          <a:xfrm>
            <a:off x="800100" y="1078469"/>
            <a:ext cx="9306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Níveis de acesso: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D3598F6-8DE1-9346-5070-19D453992B1D}"/>
              </a:ext>
            </a:extLst>
          </p:cNvPr>
          <p:cNvSpPr txBox="1"/>
          <p:nvPr/>
        </p:nvSpPr>
        <p:spPr>
          <a:xfrm>
            <a:off x="800099" y="1796332"/>
            <a:ext cx="930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Publico (</a:t>
            </a:r>
            <a:r>
              <a:rPr lang="pt-BR" dirty="0" err="1"/>
              <a:t>Public</a:t>
            </a:r>
            <a:r>
              <a:rPr lang="pt-BR" dirty="0"/>
              <a:t>):</a:t>
            </a:r>
          </a:p>
          <a:p>
            <a:r>
              <a:rPr lang="pt-BR" dirty="0"/>
              <a:t>	Sintaxe: </a:t>
            </a:r>
            <a:r>
              <a:rPr lang="pt-BR" dirty="0" err="1"/>
              <a:t>nome_do_atributo</a:t>
            </a:r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140F868-161A-2B09-4430-39ED1D9C8E57}"/>
              </a:ext>
            </a:extLst>
          </p:cNvPr>
          <p:cNvSpPr txBox="1"/>
          <p:nvPr/>
        </p:nvSpPr>
        <p:spPr>
          <a:xfrm>
            <a:off x="800098" y="2875288"/>
            <a:ext cx="930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Protegido (</a:t>
            </a:r>
            <a:r>
              <a:rPr lang="pt-BR" dirty="0" err="1"/>
              <a:t>Protected</a:t>
            </a:r>
            <a:r>
              <a:rPr lang="pt-BR" dirty="0"/>
              <a:t>):</a:t>
            </a:r>
          </a:p>
          <a:p>
            <a:r>
              <a:rPr lang="pt-BR" dirty="0"/>
              <a:t>	Sintaxe: _</a:t>
            </a:r>
            <a:r>
              <a:rPr lang="pt-BR" dirty="0" err="1"/>
              <a:t>nome_do_atributo</a:t>
            </a:r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099DD27-9FC0-92B8-FEA9-8CAD1DAF105B}"/>
              </a:ext>
            </a:extLst>
          </p:cNvPr>
          <p:cNvSpPr txBox="1"/>
          <p:nvPr/>
        </p:nvSpPr>
        <p:spPr>
          <a:xfrm>
            <a:off x="800098" y="3954244"/>
            <a:ext cx="93068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Privado (Private):</a:t>
            </a:r>
          </a:p>
          <a:p>
            <a:r>
              <a:rPr lang="pt-BR" dirty="0"/>
              <a:t>	Sintaxe: __</a:t>
            </a:r>
            <a:r>
              <a:rPr lang="pt-BR" dirty="0" err="1"/>
              <a:t>nome_do_atributo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902707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D2A12-C6C5-78A3-C6C7-617A45CC1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071ED9-8513-B8F8-20DD-9A238BB4E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9A2DFA-89AB-EDEE-9687-AFC64C9B7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1253B53-BDE8-4932-5B24-12FFC43575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5AB37B8-90FB-EBCF-1D54-88BF2FC79D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E37212D-B8FE-2A2F-E2B4-C8B3A4E9DE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F7590108-775E-1655-DDDC-EFCA0A42B802}"/>
              </a:ext>
            </a:extLst>
          </p:cNvPr>
          <p:cNvSpPr txBox="1"/>
          <p:nvPr/>
        </p:nvSpPr>
        <p:spPr>
          <a:xfrm>
            <a:off x="800100" y="1078469"/>
            <a:ext cx="93068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Getter</a:t>
            </a:r>
            <a:r>
              <a:rPr lang="pt-BR" dirty="0"/>
              <a:t> e </a:t>
            </a:r>
            <a:r>
              <a:rPr lang="pt-BR" dirty="0" err="1"/>
              <a:t>Setter</a:t>
            </a:r>
            <a:r>
              <a:rPr lang="pt-BR" dirty="0"/>
              <a:t> com @property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0DE78AB-7BA9-F40C-3232-A344E450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142" y="1730841"/>
            <a:ext cx="5430008" cy="4048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820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03DD14-48DB-B3C3-7D2C-78284449B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 descr="Gota d'água em uma pétala">
            <a:extLst>
              <a:ext uri="{FF2B5EF4-FFF2-40B4-BE49-F238E27FC236}">
                <a16:creationId xmlns:a16="http://schemas.microsoft.com/office/drawing/2014/main" id="{42E95CEB-F7A1-CF9D-97C0-1A90515672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" t="7332" r="1755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4A23077-7CD7-369A-AFAD-9ADCDF7AC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HERANÇA</a:t>
            </a:r>
          </a:p>
        </p:txBody>
      </p:sp>
    </p:spTree>
    <p:extLst>
      <p:ext uri="{BB962C8B-B14F-4D97-AF65-F5344CB8AC3E}">
        <p14:creationId xmlns:p14="http://schemas.microsoft.com/office/powerpoint/2010/main" val="29903819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BA2300-BCBA-2FB3-2A39-FC1F9DE25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7D3B1DB-A9E9-29AC-9A4E-FCBB690608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F4867B-3C2A-F188-1CB6-1FAECD191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ECDAC411-C09B-B7E9-9528-88F028968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3F42096-AF69-4062-D148-EEB644BF0E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F4F5A68-9656-8FA7-032A-EB466E712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0D8374DF-CD6B-42BC-1FC5-1AF6EF4E965C}"/>
              </a:ext>
            </a:extLst>
          </p:cNvPr>
          <p:cNvSpPr txBox="1"/>
          <p:nvPr/>
        </p:nvSpPr>
        <p:spPr>
          <a:xfrm>
            <a:off x="800100" y="1720840"/>
            <a:ext cx="41844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</a:t>
            </a:r>
            <a:r>
              <a:rPr lang="pt-BR" b="1" dirty="0"/>
              <a:t>Herança</a:t>
            </a:r>
            <a:r>
              <a:rPr lang="pt-BR" dirty="0"/>
              <a:t> é o mecanismo que permite que uma classe (chamada de </a:t>
            </a:r>
            <a:r>
              <a:rPr lang="pt-BR" b="1" dirty="0"/>
              <a:t>Classe Filha</a:t>
            </a:r>
            <a:r>
              <a:rPr lang="pt-BR" dirty="0"/>
              <a:t> ou Subclasse) herde atributos e métodos de outra classe (chamada de </a:t>
            </a:r>
            <a:r>
              <a:rPr lang="pt-BR" b="1" dirty="0"/>
              <a:t>Classe Pai</a:t>
            </a:r>
            <a:r>
              <a:rPr lang="pt-BR" dirty="0"/>
              <a:t> ou Superclasse).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A ideia principal é o </a:t>
            </a:r>
            <a:r>
              <a:rPr lang="pt-BR" b="1" dirty="0"/>
              <a:t>reuso de código</a:t>
            </a:r>
            <a:r>
              <a:rPr lang="pt-BR" dirty="0"/>
              <a:t>. Se várias classes compartilham o mesmo comportamento, você define esse comportamento uma única vez na classe pai.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A7E1B416-9C66-6F4A-C873-A5A5AAF70B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123629"/>
            <a:ext cx="5029902" cy="46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6673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E5DEFA-7B66-5437-D331-F3D08A7B8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34">
            <a:extLst>
              <a:ext uri="{FF2B5EF4-FFF2-40B4-BE49-F238E27FC236}">
                <a16:creationId xmlns:a16="http://schemas.microsoft.com/office/drawing/2014/main" id="{7741D2ED-43B2-1602-DE14-6B902FD2E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36">
            <a:extLst>
              <a:ext uri="{FF2B5EF4-FFF2-40B4-BE49-F238E27FC236}">
                <a16:creationId xmlns:a16="http://schemas.microsoft.com/office/drawing/2014/main" id="{B455C41B-FA8D-43BA-6CC9-129E59E348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38">
            <a:extLst>
              <a:ext uri="{FF2B5EF4-FFF2-40B4-BE49-F238E27FC236}">
                <a16:creationId xmlns:a16="http://schemas.microsoft.com/office/drawing/2014/main" id="{4E701C19-A76D-D972-B5ED-F98D88A48E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pic>
        <p:nvPicPr>
          <p:cNvPr id="18" name="Picture 17" descr="Gota d'água em uma pétala">
            <a:extLst>
              <a:ext uri="{FF2B5EF4-FFF2-40B4-BE49-F238E27FC236}">
                <a16:creationId xmlns:a16="http://schemas.microsoft.com/office/drawing/2014/main" id="{FE4829A5-1039-4201-952A-22CEAA4FD29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78" t="7332" r="1755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54" name="Rectangle 40">
            <a:extLst>
              <a:ext uri="{FF2B5EF4-FFF2-40B4-BE49-F238E27FC236}">
                <a16:creationId xmlns:a16="http://schemas.microsoft.com/office/drawing/2014/main" id="{F34A8B7A-E4A6-77DE-4D74-F9EDBB45E5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1"/>
            <a:ext cx="12191999" cy="1371600"/>
          </a:xfrm>
          <a:prstGeom prst="rect">
            <a:avLst/>
          </a:prstGeom>
          <a:solidFill>
            <a:schemeClr val="bg1">
              <a:alpha val="2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sto MT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5B515C-657C-63D1-C045-1A100EEED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5715007"/>
            <a:ext cx="7983070" cy="958655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dirty="0"/>
              <a:t>POLIMORFISMO</a:t>
            </a:r>
          </a:p>
        </p:txBody>
      </p:sp>
    </p:spTree>
    <p:extLst>
      <p:ext uri="{BB962C8B-B14F-4D97-AF65-F5344CB8AC3E}">
        <p14:creationId xmlns:p14="http://schemas.microsoft.com/office/powerpoint/2010/main" val="4479825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A4FD00-4685-C073-FE22-9AF612095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F2E5E30-6C72-9895-A00F-3C823281AE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F4AD264-4279-AB09-762C-0C9CB2770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AB827600-AF34-FF96-AAE9-C423718AF2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21C68C3-9DA1-5D82-252C-F6395653D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CA7E4F0-E980-650B-2C5B-F84827315B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4100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EB6E0188-F0FB-E262-0859-6AB4FD56EF54}"/>
              </a:ext>
            </a:extLst>
          </p:cNvPr>
          <p:cNvSpPr txBox="1"/>
          <p:nvPr/>
        </p:nvSpPr>
        <p:spPr>
          <a:xfrm>
            <a:off x="800100" y="1720840"/>
            <a:ext cx="418449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O </a:t>
            </a:r>
            <a:r>
              <a:rPr lang="pt-BR" b="1" dirty="0"/>
              <a:t>Polimorfismo</a:t>
            </a:r>
            <a:r>
              <a:rPr lang="pt-BR" dirty="0"/>
              <a:t> é a capacidade de diferentes objetos (de classes diferentes) responderem ao </a:t>
            </a:r>
            <a:r>
              <a:rPr lang="pt-BR" b="1" dirty="0"/>
              <a:t>mesmo método</a:t>
            </a:r>
            <a:r>
              <a:rPr lang="pt-BR" dirty="0"/>
              <a:t> de formas específicas.</a:t>
            </a:r>
          </a:p>
          <a:p>
            <a:endParaRPr lang="pt-BR" dirty="0"/>
          </a:p>
          <a:p>
            <a:r>
              <a:rPr lang="pt-BR" dirty="0"/>
              <a:t>A palavra vem do grego: </a:t>
            </a:r>
            <a:r>
              <a:rPr lang="pt-BR" i="1" dirty="0"/>
              <a:t>Poli</a:t>
            </a:r>
            <a:r>
              <a:rPr lang="pt-BR" dirty="0"/>
              <a:t> (muitos) + </a:t>
            </a:r>
            <a:r>
              <a:rPr lang="pt-BR" i="1" dirty="0" err="1"/>
              <a:t>Morphos</a:t>
            </a:r>
            <a:r>
              <a:rPr lang="pt-BR" dirty="0"/>
              <a:t> (formas). Na prática, significa que você pode tratar objetos diferentes de maneira uniforme, sem precisar saber exatamente qual é a classe do objeto no momento da chamada.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C2DFA7D-C0CC-0622-CFA6-A36014BCE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4695" y="1085523"/>
            <a:ext cx="5420593" cy="4686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915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ChronicleVTI">
  <a:themeElements>
    <a:clrScheme name="Chronicle">
      <a:dk1>
        <a:srgbClr val="000000"/>
      </a:dk1>
      <a:lt1>
        <a:srgbClr val="FFFFFF"/>
      </a:lt1>
      <a:dk2>
        <a:srgbClr val="1C1C32"/>
      </a:dk2>
      <a:lt2>
        <a:srgbClr val="F8F4F1"/>
      </a:lt2>
      <a:accent1>
        <a:srgbClr val="734B67"/>
      </a:accent1>
      <a:accent2>
        <a:srgbClr val="959EBB"/>
      </a:accent2>
      <a:accent3>
        <a:srgbClr val="596781"/>
      </a:accent3>
      <a:accent4>
        <a:srgbClr val="7F6E8C"/>
      </a:accent4>
      <a:accent5>
        <a:srgbClr val="DB9A8F"/>
      </a:accent5>
      <a:accent6>
        <a:srgbClr val="C29AB1"/>
      </a:accent6>
      <a:hlink>
        <a:srgbClr val="778BA2"/>
      </a:hlink>
      <a:folHlink>
        <a:srgbClr val="A27C99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 w="12700" cap="flat" cmpd="sng" algn="ctr">
          <a:noFill/>
          <a:prstDash val="solid"/>
          <a:miter lim="800000"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accent1">
                  <a:shade val="50000"/>
                </a:schemeClr>
              </a:solidFill>
              <a:prstDash val="solid"/>
              <a:miter lim="800000"/>
            </a14:hiddenLine>
          </a:ext>
        </a:extLst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310</Words>
  <Application>Microsoft Office PowerPoint</Application>
  <PresentationFormat>Widescreen</PresentationFormat>
  <Paragraphs>42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Arial</vt:lpstr>
      <vt:lpstr>Calisto MT</vt:lpstr>
      <vt:lpstr>Univers Condensed</vt:lpstr>
      <vt:lpstr>ChronicleVTI</vt:lpstr>
      <vt:lpstr>Python – pilares da poo</vt:lpstr>
      <vt:lpstr>Apresentação do PowerPoint</vt:lpstr>
      <vt:lpstr>Apresentação do PowerPoint</vt:lpstr>
      <vt:lpstr>ENCAPSULAMENTO</vt:lpstr>
      <vt:lpstr>Apresentação do PowerPoint</vt:lpstr>
      <vt:lpstr>Apresentação do PowerPoint</vt:lpstr>
      <vt:lpstr>Apresentação do PowerPoint</vt:lpstr>
      <vt:lpstr>Apresentação do PowerPoint</vt:lpstr>
      <vt:lpstr>HERANÇA</vt:lpstr>
      <vt:lpstr>Apresentação do PowerPoint</vt:lpstr>
      <vt:lpstr>POLIMORFISMO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Silvania</dc:creator>
  <cp:lastModifiedBy>Silvania</cp:lastModifiedBy>
  <cp:revision>3</cp:revision>
  <dcterms:created xsi:type="dcterms:W3CDTF">2026-01-14T23:58:49Z</dcterms:created>
  <dcterms:modified xsi:type="dcterms:W3CDTF">2026-01-19T17:02:37Z</dcterms:modified>
</cp:coreProperties>
</file>