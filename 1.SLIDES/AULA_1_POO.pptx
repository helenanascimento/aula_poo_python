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7" r:id="rId2"/>
    <p:sldId id="260" r:id="rId3"/>
    <p:sldId id="261" r:id="rId4"/>
    <p:sldId id="262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1" r:id="rId14"/>
    <p:sldId id="273" r:id="rId15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44" d="100"/>
          <a:sy n="44" d="100"/>
        </p:scale>
        <p:origin x="16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9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1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9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4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4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2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73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9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8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87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19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87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0F87EA-7C39-E29B-FB4F-467A9F04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4" y="3429000"/>
            <a:ext cx="10283452" cy="7093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Python - </a:t>
            </a:r>
            <a:r>
              <a:rPr lang="en-US" sz="3600" dirty="0" err="1"/>
              <a:t>Fundamentos</a:t>
            </a:r>
            <a:endParaRPr lang="en-US" sz="3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1BB76DFC-5C2E-6AFF-DEBC-542AB08DBE41}"/>
              </a:ext>
            </a:extLst>
          </p:cNvPr>
          <p:cNvSpPr txBox="1">
            <a:spLocks/>
          </p:cNvSpPr>
          <p:nvPr/>
        </p:nvSpPr>
        <p:spPr>
          <a:xfrm>
            <a:off x="847724" y="1024159"/>
            <a:ext cx="10283452" cy="25572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/>
              <a:t>PROGRAMAÇÃO ORIENTADA A OBJETO (POO)</a:t>
            </a:r>
          </a:p>
        </p:txBody>
      </p:sp>
    </p:spTree>
    <p:extLst>
      <p:ext uri="{BB962C8B-B14F-4D97-AF65-F5344CB8AC3E}">
        <p14:creationId xmlns:p14="http://schemas.microsoft.com/office/powerpoint/2010/main" val="1194440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4450D-163D-0C98-2049-316E2F3F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7C7EC4-B980-D7B7-A7A4-F4A7A2BB7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31C6C4-DA9D-1CA0-D2F8-52C191A76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A371F9C-5D5A-14FC-44AF-1AF4EC912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DDB47D-D9A8-1BBD-F76C-BBAE167B8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1136AF-580B-0425-A1AD-E748EF77A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Espaço Reservado para Conteúdo 4" descr="Interface gráfica do usuário, Diagrama&#10;&#10;O conteúdo gerado por IA pode estar incorreto.">
            <a:extLst>
              <a:ext uri="{FF2B5EF4-FFF2-40B4-BE49-F238E27FC236}">
                <a16:creationId xmlns:a16="http://schemas.microsoft.com/office/drawing/2014/main" id="{2FD611B1-7A65-C35E-B8B0-FFBF6849E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65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2FAC4-DC6D-86E8-4592-638D3203C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898DD6-D119-270E-35B2-86D6F9DDC3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72" r="24820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1F56094B-D31C-8D6C-B828-9AD1F8967D2A}"/>
              </a:ext>
            </a:extLst>
          </p:cNvPr>
          <p:cNvSpPr txBox="1"/>
          <p:nvPr/>
        </p:nvSpPr>
        <p:spPr>
          <a:xfrm>
            <a:off x="6696186" y="2062719"/>
            <a:ext cx="4800600" cy="38991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Java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C++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C#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Python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Lua 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PHP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Ruby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Perl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Object Pascal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Objective-C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Dart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Swift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Scala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Common Lisp 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Smalltalk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A4415FE2-E81C-76D6-725F-D497F03B86B8}"/>
              </a:ext>
            </a:extLst>
          </p:cNvPr>
          <p:cNvSpPr txBox="1"/>
          <p:nvPr/>
        </p:nvSpPr>
        <p:spPr>
          <a:xfrm>
            <a:off x="6781300" y="1360967"/>
            <a:ext cx="2981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Linguagens voltadas a POO:</a:t>
            </a:r>
          </a:p>
        </p:txBody>
      </p:sp>
    </p:spTree>
    <p:extLst>
      <p:ext uri="{BB962C8B-B14F-4D97-AF65-F5344CB8AC3E}">
        <p14:creationId xmlns:p14="http://schemas.microsoft.com/office/powerpoint/2010/main" val="3943560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C048611-791A-466A-A5C1-B0415D43D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74DFDDA7-81F9-2600-0493-BBBDC786C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42" b="31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0E884A-93C9-44E4-842F-5B6C251F8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476" y="723900"/>
            <a:ext cx="10610474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254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0EB31C-CD53-48C2-A9BE-DFB0681AE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50800" dist="254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158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2D5083-0B9C-E8E8-A178-474042614848}"/>
              </a:ext>
            </a:extLst>
          </p:cNvPr>
          <p:cNvSpPr txBox="1"/>
          <p:nvPr/>
        </p:nvSpPr>
        <p:spPr>
          <a:xfrm>
            <a:off x="1286540" y="1414130"/>
            <a:ext cx="276530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1. Ferramentas e ambiente</a:t>
            </a:r>
          </a:p>
          <a:p>
            <a:pPr lvl="1"/>
            <a:r>
              <a:rPr lang="pt-BR" dirty="0" err="1"/>
              <a:t>IDEs</a:t>
            </a:r>
            <a:endParaRPr lang="pt-BR" dirty="0"/>
          </a:p>
          <a:p>
            <a:pPr lvl="1"/>
            <a:r>
              <a:rPr lang="pt-BR" dirty="0"/>
              <a:t>Extensões</a:t>
            </a:r>
          </a:p>
          <a:p>
            <a:pPr lvl="1"/>
            <a:r>
              <a:rPr lang="pt-BR" dirty="0"/>
              <a:t>Python 3.12+</a:t>
            </a:r>
          </a:p>
          <a:p>
            <a:pPr lvl="1"/>
            <a:r>
              <a:rPr lang="pt-BR" dirty="0"/>
              <a:t>Como rodar scripts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DA5CE2-5D19-2C14-7497-40412C0CEA8F}"/>
              </a:ext>
            </a:extLst>
          </p:cNvPr>
          <p:cNvSpPr txBox="1"/>
          <p:nvPr/>
        </p:nvSpPr>
        <p:spPr>
          <a:xfrm>
            <a:off x="1286540" y="2869522"/>
            <a:ext cx="52101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2. Lógica básica</a:t>
            </a:r>
          </a:p>
          <a:p>
            <a:pPr lvl="1"/>
            <a:r>
              <a:rPr lang="pt-BR" dirty="0"/>
              <a:t>Variáveis</a:t>
            </a:r>
          </a:p>
          <a:p>
            <a:pPr lvl="1"/>
            <a:r>
              <a:rPr lang="pt-BR" dirty="0"/>
              <a:t>Entrada/saída</a:t>
            </a:r>
          </a:p>
          <a:p>
            <a:pPr lvl="1"/>
            <a:r>
              <a:rPr lang="pt-BR" dirty="0"/>
              <a:t>Tipos primitivos</a:t>
            </a:r>
          </a:p>
          <a:p>
            <a:pPr lvl="1"/>
            <a:r>
              <a:rPr lang="pt-BR" dirty="0"/>
              <a:t>Operadores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670499-A62B-96CD-7ED6-B757EE0C8882}"/>
              </a:ext>
            </a:extLst>
          </p:cNvPr>
          <p:cNvSpPr txBox="1"/>
          <p:nvPr/>
        </p:nvSpPr>
        <p:spPr>
          <a:xfrm>
            <a:off x="1286540" y="4346850"/>
            <a:ext cx="4809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</a:t>
            </a:r>
            <a:r>
              <a:rPr lang="en-US" dirty="0" err="1"/>
              <a:t>Estruturas</a:t>
            </a:r>
            <a:r>
              <a:rPr lang="en-US" dirty="0"/>
              <a:t> de </a:t>
            </a:r>
            <a:r>
              <a:rPr lang="en-US" dirty="0" err="1"/>
              <a:t>controle</a:t>
            </a:r>
            <a:endParaRPr lang="en-US" dirty="0"/>
          </a:p>
          <a:p>
            <a:pPr lvl="1"/>
            <a:r>
              <a:rPr lang="en-US" dirty="0"/>
              <a:t>if, </a:t>
            </a:r>
            <a:r>
              <a:rPr lang="en-US" dirty="0" err="1"/>
              <a:t>elif</a:t>
            </a:r>
            <a:r>
              <a:rPr lang="en-US" dirty="0"/>
              <a:t>, else</a:t>
            </a:r>
          </a:p>
          <a:p>
            <a:pPr lvl="1"/>
            <a:r>
              <a:rPr lang="en-US" dirty="0"/>
              <a:t>while</a:t>
            </a:r>
          </a:p>
          <a:p>
            <a:pPr lvl="1"/>
            <a:r>
              <a:rPr lang="en-US" dirty="0"/>
              <a:t>for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F48DAA-083E-C662-AECB-43D87842713C}"/>
              </a:ext>
            </a:extLst>
          </p:cNvPr>
          <p:cNvSpPr txBox="1"/>
          <p:nvPr/>
        </p:nvSpPr>
        <p:spPr>
          <a:xfrm>
            <a:off x="7155275" y="1414130"/>
            <a:ext cx="4236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4. Estruturas de dados</a:t>
            </a:r>
          </a:p>
          <a:p>
            <a:r>
              <a:rPr lang="pt-BR" dirty="0"/>
              <a:t>        listas, tuplas, dicionários e sets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32D48D3-B72C-E5C5-B695-F7BC6BAB42E5}"/>
              </a:ext>
            </a:extLst>
          </p:cNvPr>
          <p:cNvSpPr txBox="1"/>
          <p:nvPr/>
        </p:nvSpPr>
        <p:spPr>
          <a:xfrm>
            <a:off x="7155274" y="2296787"/>
            <a:ext cx="423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5. Exercícios práticos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2361196-972F-0155-02D1-54E69D7DE2DA}"/>
              </a:ext>
            </a:extLst>
          </p:cNvPr>
          <p:cNvSpPr txBox="1"/>
          <p:nvPr/>
        </p:nvSpPr>
        <p:spPr>
          <a:xfrm>
            <a:off x="7155273" y="2902307"/>
            <a:ext cx="423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6. Dever de Casa</a:t>
            </a:r>
          </a:p>
        </p:txBody>
      </p:sp>
    </p:spTree>
    <p:extLst>
      <p:ext uri="{BB962C8B-B14F-4D97-AF65-F5344CB8AC3E}">
        <p14:creationId xmlns:p14="http://schemas.microsoft.com/office/powerpoint/2010/main" val="14315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582DD4-7433-2C3E-6175-B680B00F8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CB2713-D041-F881-7104-B0DD9ECB6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DB8F01-E5F5-1940-C5CF-1C42F2CBC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D5DD59C-0821-669A-AA8A-197857219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114F28-507E-34EE-3429-AA406D78A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7C973E-4AB3-6659-D931-4B980E46B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4DAA341E-8732-ED8C-F6F5-AA4A9E94F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095154"/>
            <a:ext cx="10591800" cy="462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46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3DD14-48DB-B3C3-7D2C-78284449B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3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8" name="Picture 17" descr="Gota d'água em uma pétala">
            <a:extLst>
              <a:ext uri="{FF2B5EF4-FFF2-40B4-BE49-F238E27FC236}">
                <a16:creationId xmlns:a16="http://schemas.microsoft.com/office/drawing/2014/main" id="{42E95CEB-F7A1-CF9D-97C0-1A905156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8" t="7332" r="1755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4" name="Rectangle 4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A23077-7CD7-369A-AFAD-9ADCDF7A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Lógica</a:t>
            </a:r>
            <a:r>
              <a:rPr lang="en-US" sz="3600" dirty="0"/>
              <a:t> </a:t>
            </a:r>
            <a:r>
              <a:rPr lang="en-US" sz="3600" dirty="0" err="1"/>
              <a:t>básica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90381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0D01C-32FA-A70D-7630-66AFEF3E5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C115CF-9187-AA45-B0B1-10C217982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880B00-C832-6559-8CCC-0704831A6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14BC89-270A-CF7E-A89D-1AFB86968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5C8039-C840-6008-861B-0E3C1FF7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B0D8E8-1825-17FE-EBFB-4D6088E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E1173F04-BAB2-AC48-2BA6-3D123781DECC}"/>
              </a:ext>
            </a:extLst>
          </p:cNvPr>
          <p:cNvSpPr txBox="1"/>
          <p:nvPr/>
        </p:nvSpPr>
        <p:spPr>
          <a:xfrm>
            <a:off x="1309818" y="2967335"/>
            <a:ext cx="95723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Variáveis são "caixas" ou espaços na memória do computador que armazenam dados cujo valor </a:t>
            </a:r>
          </a:p>
          <a:p>
            <a:r>
              <a:rPr lang="pt-BR" dirty="0"/>
              <a:t>pode ser alterado durante a execução de um programa.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522FECB-F2E3-5107-592B-C761F6D6468D}"/>
              </a:ext>
            </a:extLst>
          </p:cNvPr>
          <p:cNvSpPr txBox="1"/>
          <p:nvPr/>
        </p:nvSpPr>
        <p:spPr>
          <a:xfrm>
            <a:off x="800100" y="1124635"/>
            <a:ext cx="2346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que é uma variável?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313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E503B-7AB2-85D4-C57F-7A130FFE3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210027-9F29-BF02-0FAD-C758E371D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A1E2CA-4527-4970-D3BB-7423A68BF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0F471CD-9C6B-E8E1-A938-B6CF7B3E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2FA304-532E-190E-7908-FD2E332E6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0062D8-7FCA-08C7-A57F-8E9559897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351EB8-DA99-6043-5C5C-37BB127D0583}"/>
              </a:ext>
            </a:extLst>
          </p:cNvPr>
          <p:cNvSpPr txBox="1"/>
          <p:nvPr/>
        </p:nvSpPr>
        <p:spPr>
          <a:xfrm>
            <a:off x="800100" y="1124635"/>
            <a:ext cx="1992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Tipos de variáveis: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B40C37-E111-EC84-5F51-C526963B5223}"/>
              </a:ext>
            </a:extLst>
          </p:cNvPr>
          <p:cNvSpPr txBox="1"/>
          <p:nvPr/>
        </p:nvSpPr>
        <p:spPr>
          <a:xfrm>
            <a:off x="1078960" y="1707860"/>
            <a:ext cx="4533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int</a:t>
            </a:r>
            <a:r>
              <a:rPr lang="pt-BR" dirty="0"/>
              <a:t> – inteiro, usado para informar números. </a:t>
            </a:r>
          </a:p>
          <a:p>
            <a:r>
              <a:rPr lang="pt-BR" dirty="0"/>
              <a:t>	Exemplo: 1, 20, 100, 12.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AE7FED1-5F1F-4E9E-DD2C-79234B64C4F5}"/>
              </a:ext>
            </a:extLst>
          </p:cNvPr>
          <p:cNvSpPr txBox="1"/>
          <p:nvPr/>
        </p:nvSpPr>
        <p:spPr>
          <a:xfrm>
            <a:off x="1078960" y="2574914"/>
            <a:ext cx="5571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str</a:t>
            </a:r>
            <a:r>
              <a:rPr lang="pt-BR" dirty="0"/>
              <a:t> – </a:t>
            </a:r>
            <a:r>
              <a:rPr lang="pt-BR" dirty="0" err="1"/>
              <a:t>string</a:t>
            </a:r>
            <a:r>
              <a:rPr lang="pt-BR" dirty="0"/>
              <a:t>, usado para informar nome. </a:t>
            </a:r>
          </a:p>
          <a:p>
            <a:r>
              <a:rPr lang="pt-BR" dirty="0"/>
              <a:t>	Exemplo: </a:t>
            </a:r>
            <a:r>
              <a:rPr lang="pt-BR" dirty="0" err="1"/>
              <a:t>ana</a:t>
            </a:r>
            <a:r>
              <a:rPr lang="pt-BR" dirty="0"/>
              <a:t>, bento, Brasil, Fortaleza, Ceará.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FF753C-260A-0D29-4E53-B932EA979D07}"/>
              </a:ext>
            </a:extLst>
          </p:cNvPr>
          <p:cNvSpPr txBox="1"/>
          <p:nvPr/>
        </p:nvSpPr>
        <p:spPr>
          <a:xfrm>
            <a:off x="1078960" y="3441968"/>
            <a:ext cx="5874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float</a:t>
            </a:r>
            <a:r>
              <a:rPr lang="pt-BR" dirty="0"/>
              <a:t> – flutuante, usado para informar números decimais. </a:t>
            </a:r>
          </a:p>
          <a:p>
            <a:r>
              <a:rPr lang="pt-BR" dirty="0"/>
              <a:t>	Exemplo: 1.5,100.30,10.00.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5DD2D7-6AD3-F874-4160-192F36B9EEB4}"/>
              </a:ext>
            </a:extLst>
          </p:cNvPr>
          <p:cNvSpPr txBox="1"/>
          <p:nvPr/>
        </p:nvSpPr>
        <p:spPr>
          <a:xfrm>
            <a:off x="1078960" y="4309022"/>
            <a:ext cx="53311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</a:rPr>
              <a:t>bool</a:t>
            </a:r>
            <a:r>
              <a:rPr lang="pt-BR" dirty="0"/>
              <a:t> – </a:t>
            </a:r>
            <a:r>
              <a:rPr lang="pt-BR" dirty="0" err="1"/>
              <a:t>boleano</a:t>
            </a:r>
            <a:r>
              <a:rPr lang="pt-BR" dirty="0"/>
              <a:t>, usado para informar valores lógicos. </a:t>
            </a:r>
          </a:p>
          <a:p>
            <a:r>
              <a:rPr lang="pt-BR" dirty="0"/>
              <a:t>	Exemplo: </a:t>
            </a:r>
            <a:r>
              <a:rPr lang="pt-BR" dirty="0" err="1"/>
              <a:t>True</a:t>
            </a:r>
            <a:r>
              <a:rPr lang="pt-BR" dirty="0"/>
              <a:t> ou false.</a:t>
            </a:r>
          </a:p>
        </p:txBody>
      </p:sp>
    </p:spTree>
    <p:extLst>
      <p:ext uri="{BB962C8B-B14F-4D97-AF65-F5344CB8AC3E}">
        <p14:creationId xmlns:p14="http://schemas.microsoft.com/office/powerpoint/2010/main" val="1943370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C9245-096D-1139-811B-6564198F5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1533F8-85B6-7518-DF20-73FCDA3C3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985D0A-CE1E-3848-07AA-B51C19104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CC7691-C2E2-AA01-F1FE-CFED528EC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E615B1-8809-7E99-3D2C-70495AD53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F387BF-16DC-0CC1-BF57-A662AFAFA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31DAAFC6-29B9-05C7-BBD8-41C5DF42B9AA}"/>
              </a:ext>
            </a:extLst>
          </p:cNvPr>
          <p:cNvSpPr txBox="1"/>
          <p:nvPr/>
        </p:nvSpPr>
        <p:spPr>
          <a:xfrm>
            <a:off x="800100" y="1124635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Entrada e Saída: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90631B0-7E5B-79BE-85D9-9B49AFE2063D}"/>
              </a:ext>
            </a:extLst>
          </p:cNvPr>
          <p:cNvSpPr txBox="1"/>
          <p:nvPr/>
        </p:nvSpPr>
        <p:spPr>
          <a:xfrm>
            <a:off x="1078960" y="1707860"/>
            <a:ext cx="3427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input</a:t>
            </a:r>
            <a:r>
              <a:rPr lang="pt-BR" dirty="0"/>
              <a:t> – solicita a entrada de valor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4BD7CF-0986-BCF7-EEE8-52147855A268}"/>
              </a:ext>
            </a:extLst>
          </p:cNvPr>
          <p:cNvSpPr txBox="1"/>
          <p:nvPr/>
        </p:nvSpPr>
        <p:spPr>
          <a:xfrm>
            <a:off x="1078960" y="2567689"/>
            <a:ext cx="3931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print</a:t>
            </a:r>
            <a:r>
              <a:rPr lang="pt-BR" dirty="0"/>
              <a:t> – retorna informações solicitadas</a:t>
            </a:r>
          </a:p>
        </p:txBody>
      </p:sp>
    </p:spTree>
    <p:extLst>
      <p:ext uri="{BB962C8B-B14F-4D97-AF65-F5344CB8AC3E}">
        <p14:creationId xmlns:p14="http://schemas.microsoft.com/office/powerpoint/2010/main" val="2754472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E4ACF-7528-42AF-9A8E-F26C9397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376896-072C-C6AA-37E5-74633272F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99B0ED-C1C2-20BB-E7C8-3BDBD5ACA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DB87D1F-423B-1951-756D-25D6ED0D7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A06BE7F-9062-0D77-AA24-9C94A2207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4AAC300-DED2-E8FF-B450-E1D9E50F8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C7D42661-0B08-3BEC-D97C-03EB8C74B2EE}"/>
              </a:ext>
            </a:extLst>
          </p:cNvPr>
          <p:cNvSpPr txBox="1"/>
          <p:nvPr/>
        </p:nvSpPr>
        <p:spPr>
          <a:xfrm>
            <a:off x="800100" y="1124635"/>
            <a:ext cx="13805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Operadores:</a:t>
            </a:r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10D0E11-1CA8-B6CB-E094-CAE3EF2BE21F}"/>
              </a:ext>
            </a:extLst>
          </p:cNvPr>
          <p:cNvSpPr txBox="1"/>
          <p:nvPr/>
        </p:nvSpPr>
        <p:spPr>
          <a:xfrm>
            <a:off x="1150296" y="1848534"/>
            <a:ext cx="2576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Operadores aritméticos:</a:t>
            </a:r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A092693-8EE6-8BCE-A0D6-F81637B79596}"/>
              </a:ext>
            </a:extLst>
          </p:cNvPr>
          <p:cNvSpPr txBox="1"/>
          <p:nvPr/>
        </p:nvSpPr>
        <p:spPr>
          <a:xfrm>
            <a:off x="1150296" y="3206353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Operadores de comparação:</a:t>
            </a:r>
          </a:p>
          <a:p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51C9B09-F5DF-C127-5FE3-230B45DD8524}"/>
              </a:ext>
            </a:extLst>
          </p:cNvPr>
          <p:cNvSpPr txBox="1"/>
          <p:nvPr/>
        </p:nvSpPr>
        <p:spPr>
          <a:xfrm>
            <a:off x="1150296" y="4564173"/>
            <a:ext cx="2122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Operadores lógicos:</a:t>
            </a:r>
          </a:p>
          <a:p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1D1D044-383F-84E8-0CC0-D912D9E4C5BF}"/>
              </a:ext>
            </a:extLst>
          </p:cNvPr>
          <p:cNvSpPr txBox="1"/>
          <p:nvPr/>
        </p:nvSpPr>
        <p:spPr>
          <a:xfrm>
            <a:off x="7382483" y="1770966"/>
            <a:ext cx="2683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Operadores de atribuição:</a:t>
            </a:r>
          </a:p>
          <a:p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36F3980-D7F0-1986-F533-7AD7C83F1ED1}"/>
              </a:ext>
            </a:extLst>
          </p:cNvPr>
          <p:cNvSpPr txBox="1"/>
          <p:nvPr/>
        </p:nvSpPr>
        <p:spPr>
          <a:xfrm>
            <a:off x="7382483" y="3141196"/>
            <a:ext cx="2754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Operadores de identidade:</a:t>
            </a:r>
          </a:p>
          <a:p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C4358D2-1B2A-C1D5-3905-D0652F28E8BF}"/>
              </a:ext>
            </a:extLst>
          </p:cNvPr>
          <p:cNvSpPr txBox="1"/>
          <p:nvPr/>
        </p:nvSpPr>
        <p:spPr>
          <a:xfrm>
            <a:off x="7382483" y="4511426"/>
            <a:ext cx="2587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Operadores pertinência :</a:t>
            </a:r>
          </a:p>
          <a:p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CFD5B1C-64B3-DBC6-572C-4337DFBC771A}"/>
              </a:ext>
            </a:extLst>
          </p:cNvPr>
          <p:cNvSpPr txBox="1"/>
          <p:nvPr/>
        </p:nvSpPr>
        <p:spPr>
          <a:xfrm>
            <a:off x="1599937" y="2248331"/>
            <a:ext cx="2029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+, -, *, /, //, %, **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95B338C-0042-2D65-1ABF-43FD5416DD1E}"/>
              </a:ext>
            </a:extLst>
          </p:cNvPr>
          <p:cNvSpPr txBox="1"/>
          <p:nvPr/>
        </p:nvSpPr>
        <p:spPr>
          <a:xfrm>
            <a:off x="1599937" y="3619498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==, !=, &gt;, &lt;, &gt;=, &lt;=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EF1D1AD-19DF-683F-8D4C-54E906615B56}"/>
              </a:ext>
            </a:extLst>
          </p:cNvPr>
          <p:cNvSpPr txBox="1"/>
          <p:nvPr/>
        </p:nvSpPr>
        <p:spPr>
          <a:xfrm>
            <a:off x="1599937" y="4977317"/>
            <a:ext cx="130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and</a:t>
            </a:r>
            <a:r>
              <a:rPr lang="pt-BR" dirty="0"/>
              <a:t>, </a:t>
            </a:r>
            <a:r>
              <a:rPr lang="pt-BR" dirty="0" err="1"/>
              <a:t>or</a:t>
            </a:r>
            <a:r>
              <a:rPr lang="pt-BR" dirty="0"/>
              <a:t>, </a:t>
            </a:r>
            <a:r>
              <a:rPr lang="pt-BR" dirty="0" err="1"/>
              <a:t>not</a:t>
            </a:r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307B173-B000-CED6-7938-729918B1BB92}"/>
              </a:ext>
            </a:extLst>
          </p:cNvPr>
          <p:cNvSpPr txBox="1"/>
          <p:nvPr/>
        </p:nvSpPr>
        <p:spPr>
          <a:xfrm>
            <a:off x="7858877" y="2242284"/>
            <a:ext cx="338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=, +=, -=, *=, /=, //=, %=, **=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A3ED39C-2235-BAB8-127D-A95C088E811E}"/>
              </a:ext>
            </a:extLst>
          </p:cNvPr>
          <p:cNvSpPr txBox="1"/>
          <p:nvPr/>
        </p:nvSpPr>
        <p:spPr>
          <a:xfrm>
            <a:off x="7858877" y="3591138"/>
            <a:ext cx="98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is</a:t>
            </a:r>
            <a:r>
              <a:rPr lang="pt-BR" dirty="0"/>
              <a:t>,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not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967D74C-95DB-20BC-3366-9270F8ED0363}"/>
              </a:ext>
            </a:extLst>
          </p:cNvPr>
          <p:cNvSpPr txBox="1"/>
          <p:nvPr/>
        </p:nvSpPr>
        <p:spPr>
          <a:xfrm>
            <a:off x="7858877" y="4981771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in, </a:t>
            </a:r>
            <a:r>
              <a:rPr lang="pt-BR" dirty="0" err="1"/>
              <a:t>not</a:t>
            </a:r>
            <a:r>
              <a:rPr lang="pt-BR" dirty="0"/>
              <a:t> in</a:t>
            </a:r>
          </a:p>
        </p:txBody>
      </p:sp>
    </p:spTree>
    <p:extLst>
      <p:ext uri="{BB962C8B-B14F-4D97-AF65-F5344CB8AC3E}">
        <p14:creationId xmlns:p14="http://schemas.microsoft.com/office/powerpoint/2010/main" val="3123870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6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8BD65D-3E29-5E7C-C048-3250D87E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34">
            <a:extLst>
              <a:ext uri="{FF2B5EF4-FFF2-40B4-BE49-F238E27FC236}">
                <a16:creationId xmlns:a16="http://schemas.microsoft.com/office/drawing/2014/main" id="{3384C6A9-8787-85E3-C592-C2A0A0A1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0347CF4D-A881-8004-5FD9-8DA45846D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8">
            <a:extLst>
              <a:ext uri="{FF2B5EF4-FFF2-40B4-BE49-F238E27FC236}">
                <a16:creationId xmlns:a16="http://schemas.microsoft.com/office/drawing/2014/main" id="{61440361-388B-76B6-A5B0-96A23D3D0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8" name="Picture 17" descr="Gota d'água em uma pétala">
            <a:extLst>
              <a:ext uri="{FF2B5EF4-FFF2-40B4-BE49-F238E27FC236}">
                <a16:creationId xmlns:a16="http://schemas.microsoft.com/office/drawing/2014/main" id="{3EEC3B78-8989-B257-DD7E-D7EB4AF205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8" t="7332" r="1755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4" name="Rectangle 40">
            <a:extLst>
              <a:ext uri="{FF2B5EF4-FFF2-40B4-BE49-F238E27FC236}">
                <a16:creationId xmlns:a16="http://schemas.microsoft.com/office/drawing/2014/main" id="{BC4202BD-CDB2-10C7-C682-DCA0BB6C7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61FCA0-4B98-A26C-E796-C40F86FBA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Estruturas</a:t>
            </a:r>
            <a:r>
              <a:rPr lang="en-US" sz="3600" dirty="0"/>
              <a:t> de </a:t>
            </a:r>
            <a:r>
              <a:rPr lang="en-US" sz="3600" dirty="0" err="1"/>
              <a:t>controle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70140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14D3F-A5FA-45C7-CF6D-C75826EEF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471E8F-031C-1F0C-45E9-2A35534EE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4A7B32-CFDB-6208-7BA3-DB9FAB908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0FF35BA-520E-E177-C971-4BC5FAF65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74F54D-338B-BBC7-5D7D-DCE339497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7F0CA7-5F7A-1489-A79B-8A49C0DB6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C8102F-DF59-18EE-D196-C854BA2657E0}"/>
              </a:ext>
            </a:extLst>
          </p:cNvPr>
          <p:cNvSpPr txBox="1"/>
          <p:nvPr/>
        </p:nvSpPr>
        <p:spPr>
          <a:xfrm>
            <a:off x="800100" y="1124635"/>
            <a:ext cx="2620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Condições (loops, laços):</a:t>
            </a:r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B76B26B-0A76-6EFA-50D1-05C665520FDB}"/>
              </a:ext>
            </a:extLst>
          </p:cNvPr>
          <p:cNvSpPr txBox="1"/>
          <p:nvPr/>
        </p:nvSpPr>
        <p:spPr>
          <a:xfrm>
            <a:off x="1150296" y="1848534"/>
            <a:ext cx="1511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7030A0"/>
                </a:solidFill>
              </a:rPr>
              <a:t>if</a:t>
            </a:r>
            <a:r>
              <a:rPr lang="pt-BR" dirty="0"/>
              <a:t> / </a:t>
            </a:r>
            <a:r>
              <a:rPr lang="pt-BR" dirty="0" err="1">
                <a:solidFill>
                  <a:srgbClr val="7030A0"/>
                </a:solidFill>
              </a:rPr>
              <a:t>elif</a:t>
            </a:r>
            <a:r>
              <a:rPr lang="pt-BR" dirty="0"/>
              <a:t> / </a:t>
            </a:r>
            <a:r>
              <a:rPr lang="pt-BR" dirty="0" err="1">
                <a:solidFill>
                  <a:srgbClr val="7030A0"/>
                </a:solidFill>
              </a:rPr>
              <a:t>else</a:t>
            </a:r>
            <a:endParaRPr lang="pt-BR" dirty="0">
              <a:solidFill>
                <a:srgbClr val="7030A0"/>
              </a:solidFill>
            </a:endParaRPr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2F9C5E9-5441-40FD-C9C5-BE692CB64F4F}"/>
              </a:ext>
            </a:extLst>
          </p:cNvPr>
          <p:cNvSpPr txBox="1"/>
          <p:nvPr/>
        </p:nvSpPr>
        <p:spPr>
          <a:xfrm>
            <a:off x="1150296" y="3206353"/>
            <a:ext cx="718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7030A0"/>
                </a:solidFill>
              </a:rPr>
              <a:t>while</a:t>
            </a:r>
            <a:endParaRPr lang="pt-BR" dirty="0">
              <a:solidFill>
                <a:srgbClr val="7030A0"/>
              </a:solidFill>
            </a:endParaRPr>
          </a:p>
          <a:p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724CA41-A045-B958-1FBA-B5ED72BF072F}"/>
              </a:ext>
            </a:extLst>
          </p:cNvPr>
          <p:cNvSpPr txBox="1"/>
          <p:nvPr/>
        </p:nvSpPr>
        <p:spPr>
          <a:xfrm>
            <a:off x="1198065" y="4503934"/>
            <a:ext cx="460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</a:rPr>
              <a:t>for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4721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087F9-7F0B-B57D-486C-63CD0123E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34">
            <a:extLst>
              <a:ext uri="{FF2B5EF4-FFF2-40B4-BE49-F238E27FC236}">
                <a16:creationId xmlns:a16="http://schemas.microsoft.com/office/drawing/2014/main" id="{639AFDE1-C148-1E56-78A9-FE3411FC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5B4E1825-C0FF-6120-F4DA-BEE81A5C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8">
            <a:extLst>
              <a:ext uri="{FF2B5EF4-FFF2-40B4-BE49-F238E27FC236}">
                <a16:creationId xmlns:a16="http://schemas.microsoft.com/office/drawing/2014/main" id="{B3AD9DC5-C39B-D0A1-6AE8-1F103E814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8" name="Picture 17" descr="Gota d'água em uma pétala">
            <a:extLst>
              <a:ext uri="{FF2B5EF4-FFF2-40B4-BE49-F238E27FC236}">
                <a16:creationId xmlns:a16="http://schemas.microsoft.com/office/drawing/2014/main" id="{9293D791-C417-64DC-1636-B351404AB3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8" t="7332" r="1755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4" name="Rectangle 40">
            <a:extLst>
              <a:ext uri="{FF2B5EF4-FFF2-40B4-BE49-F238E27FC236}">
                <a16:creationId xmlns:a16="http://schemas.microsoft.com/office/drawing/2014/main" id="{FE840455-62DE-DDB3-6DDD-2D0D7BFD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83F6E6-0FDE-8B84-B227-09B9DE30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Estrutura</a:t>
            </a:r>
            <a:r>
              <a:rPr lang="en-US" sz="3600" dirty="0"/>
              <a:t> de dados</a:t>
            </a:r>
          </a:p>
        </p:txBody>
      </p:sp>
    </p:spTree>
    <p:extLst>
      <p:ext uri="{BB962C8B-B14F-4D97-AF65-F5344CB8AC3E}">
        <p14:creationId xmlns:p14="http://schemas.microsoft.com/office/powerpoint/2010/main" val="3857930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79522-2677-0411-5630-E6807950A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AF3D24-AA5C-FC29-7614-61696204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44F0CA-1B0D-2D89-6125-0F16630B9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79C152D-0206-F908-D4DC-C1F74C51E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2FA28-10E9-29FE-875B-F2A8F2887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6145DE-8767-CCFA-5B19-BE7F73995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EE3D8447-4727-2077-2258-B43149E213B2}"/>
              </a:ext>
            </a:extLst>
          </p:cNvPr>
          <p:cNvSpPr txBox="1"/>
          <p:nvPr/>
        </p:nvSpPr>
        <p:spPr>
          <a:xfrm>
            <a:off x="800100" y="1124635"/>
            <a:ext cx="2620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Condições (loops, laços):</a:t>
            </a:r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D752965-E9E4-2099-EDCB-F4B7A9FB5EAA}"/>
              </a:ext>
            </a:extLst>
          </p:cNvPr>
          <p:cNvSpPr txBox="1"/>
          <p:nvPr/>
        </p:nvSpPr>
        <p:spPr>
          <a:xfrm>
            <a:off x="1150296" y="1848534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</a:rPr>
              <a:t>Listas (</a:t>
            </a:r>
            <a:r>
              <a:rPr lang="pt-BR" dirty="0" err="1">
                <a:solidFill>
                  <a:srgbClr val="7030A0"/>
                </a:solidFill>
              </a:rPr>
              <a:t>list</a:t>
            </a:r>
            <a:r>
              <a:rPr lang="pt-BR" dirty="0">
                <a:solidFill>
                  <a:srgbClr val="7030A0"/>
                </a:solidFill>
              </a:rPr>
              <a:t>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84BC887-036A-B341-B002-4A5EE30BD1D5}"/>
              </a:ext>
            </a:extLst>
          </p:cNvPr>
          <p:cNvSpPr txBox="1"/>
          <p:nvPr/>
        </p:nvSpPr>
        <p:spPr>
          <a:xfrm>
            <a:off x="1150296" y="2635850"/>
            <a:ext cx="1537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</a:rPr>
              <a:t>Tuplas (</a:t>
            </a:r>
            <a:r>
              <a:rPr lang="pt-BR" dirty="0" err="1">
                <a:solidFill>
                  <a:srgbClr val="7030A0"/>
                </a:solidFill>
              </a:rPr>
              <a:t>tuple</a:t>
            </a:r>
            <a:r>
              <a:rPr lang="pt-BR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0EF0B5-2BAD-80A4-C206-8F078CF50AA9}"/>
              </a:ext>
            </a:extLst>
          </p:cNvPr>
          <p:cNvSpPr txBox="1"/>
          <p:nvPr/>
        </p:nvSpPr>
        <p:spPr>
          <a:xfrm>
            <a:off x="1150296" y="3423166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</a:rPr>
              <a:t>Dicionários (</a:t>
            </a:r>
            <a:r>
              <a:rPr lang="pt-BR" dirty="0" err="1">
                <a:solidFill>
                  <a:srgbClr val="7030A0"/>
                </a:solidFill>
              </a:rPr>
              <a:t>dict</a:t>
            </a:r>
            <a:r>
              <a:rPr lang="pt-BR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21B895-5693-34C3-0212-E98D180A98BA}"/>
              </a:ext>
            </a:extLst>
          </p:cNvPr>
          <p:cNvSpPr txBox="1"/>
          <p:nvPr/>
        </p:nvSpPr>
        <p:spPr>
          <a:xfrm>
            <a:off x="1150295" y="4190136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</a:rPr>
              <a:t>Sets (set)</a:t>
            </a:r>
          </a:p>
        </p:txBody>
      </p:sp>
    </p:spTree>
    <p:extLst>
      <p:ext uri="{BB962C8B-B14F-4D97-AF65-F5344CB8AC3E}">
        <p14:creationId xmlns:p14="http://schemas.microsoft.com/office/powerpoint/2010/main" val="1291987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D79B7-372E-8BF8-D08A-666718014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E08F1D-8AAB-F6E8-7BEC-31660FC46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7598AB-84F0-D229-3E84-BDCEE7989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1921D6-5E81-2082-01F7-3BF72741C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7B524A-8312-AD01-D8F8-721ACDF7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3AE2B2A-8921-6D64-90AC-B906E0DF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C0FD0A96-8BB1-B953-365A-B4E3DB8838E7}"/>
              </a:ext>
            </a:extLst>
          </p:cNvPr>
          <p:cNvSpPr txBox="1"/>
          <p:nvPr/>
        </p:nvSpPr>
        <p:spPr>
          <a:xfrm>
            <a:off x="800100" y="1124635"/>
            <a:ext cx="2183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Comparação  Geral:</a:t>
            </a:r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2E794D4-6E9E-AF02-96B6-C316B968E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629907"/>
              </p:ext>
            </p:extLst>
          </p:nvPr>
        </p:nvGraphicFramePr>
        <p:xfrm>
          <a:off x="914399" y="1955262"/>
          <a:ext cx="10477500" cy="3900791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673196507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1975412758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427785759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4106587714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405090945"/>
                    </a:ext>
                  </a:extLst>
                </a:gridCol>
              </a:tblGrid>
              <a:tr h="380565">
                <a:tc>
                  <a:txBody>
                    <a:bodyPr/>
                    <a:lstStyle/>
                    <a:p>
                      <a:r>
                        <a:rPr lang="pt-BR"/>
                        <a:t>Estrutura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Ordenada?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Mutável?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Duplicados?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Uso comum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11189"/>
                  </a:ext>
                </a:extLst>
              </a:tr>
              <a:tr h="665989">
                <a:tc>
                  <a:txBody>
                    <a:bodyPr/>
                    <a:lstStyle/>
                    <a:p>
                      <a:r>
                        <a:rPr lang="pt-BR" b="1" dirty="0" err="1"/>
                        <a:t>List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Coleções gerais e dinâmicas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199249"/>
                  </a:ext>
                </a:extLst>
              </a:tr>
              <a:tr h="665989">
                <a:tc>
                  <a:txBody>
                    <a:bodyPr/>
                    <a:lstStyle/>
                    <a:p>
                      <a:r>
                        <a:rPr lang="pt-BR" b="1"/>
                        <a:t>Tuple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Não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Dados fixos, constantes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017292"/>
                  </a:ext>
                </a:extLst>
              </a:tr>
              <a:tr h="951412">
                <a:tc>
                  <a:txBody>
                    <a:bodyPr/>
                    <a:lstStyle/>
                    <a:p>
                      <a:r>
                        <a:rPr lang="pt-BR" b="1"/>
                        <a:t>Dict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Sim (Py ≥ 3.7)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Chaves únicas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Mapear informações por chave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3185085"/>
                  </a:ext>
                </a:extLst>
              </a:tr>
              <a:tr h="1236836">
                <a:tc>
                  <a:txBody>
                    <a:bodyPr/>
                    <a:lstStyle/>
                    <a:p>
                      <a:r>
                        <a:rPr lang="pt-BR" b="1"/>
                        <a:t>Set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Não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/>
                        <a:t>Não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Eliminar duplicatas, operações matemáticas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209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387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C4224-33A8-514D-731F-6397756A7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34">
            <a:extLst>
              <a:ext uri="{FF2B5EF4-FFF2-40B4-BE49-F238E27FC236}">
                <a16:creationId xmlns:a16="http://schemas.microsoft.com/office/drawing/2014/main" id="{91F711ED-C749-B929-3FCE-35725566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4E80DA9F-E9D5-2348-BD69-01DD58AFA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8">
            <a:extLst>
              <a:ext uri="{FF2B5EF4-FFF2-40B4-BE49-F238E27FC236}">
                <a16:creationId xmlns:a16="http://schemas.microsoft.com/office/drawing/2014/main" id="{2D04063E-8EA4-55BB-A401-77DAAEB73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8" name="Picture 17" descr="Gota d'água em uma pétala">
            <a:extLst>
              <a:ext uri="{FF2B5EF4-FFF2-40B4-BE49-F238E27FC236}">
                <a16:creationId xmlns:a16="http://schemas.microsoft.com/office/drawing/2014/main" id="{7079DEB9-614B-EDFD-FC96-F5E2087CE3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8" t="7332" r="1755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4" name="Rectangle 40">
            <a:extLst>
              <a:ext uri="{FF2B5EF4-FFF2-40B4-BE49-F238E27FC236}">
                <a16:creationId xmlns:a16="http://schemas.microsoft.com/office/drawing/2014/main" id="{49A6C242-D87B-DC42-C2E4-8F92E96F8A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50F463-1180-57C9-37BC-2E088F285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Para casa</a:t>
            </a:r>
          </a:p>
        </p:txBody>
      </p:sp>
    </p:spTree>
    <p:extLst>
      <p:ext uri="{BB962C8B-B14F-4D97-AF65-F5344CB8AC3E}">
        <p14:creationId xmlns:p14="http://schemas.microsoft.com/office/powerpoint/2010/main" val="961136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A7728-932F-476B-254F-0465327BE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C59829-C63F-8A00-938B-78A322424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24372A-4DDC-D646-869B-6BD7C6CFF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BDAF9F-A1AA-EDBF-EE02-42E2BC15C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D54199-4797-3710-5CCE-6FA76AF54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A4F1A4-E637-0A14-364C-04D6C3BD6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3C0672A1-36C9-C7CF-679E-28E9FE7C7422}"/>
              </a:ext>
            </a:extLst>
          </p:cNvPr>
          <p:cNvSpPr txBox="1"/>
          <p:nvPr/>
        </p:nvSpPr>
        <p:spPr>
          <a:xfrm>
            <a:off x="800100" y="1124635"/>
            <a:ext cx="1175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Para casa: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009ADB7-BA0D-6AE8-F88F-B7C296705B27}"/>
              </a:ext>
            </a:extLst>
          </p:cNvPr>
          <p:cNvSpPr txBox="1"/>
          <p:nvPr/>
        </p:nvSpPr>
        <p:spPr>
          <a:xfrm>
            <a:off x="1057495" y="1943909"/>
            <a:ext cx="8447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Crise do Paradigma Procedural :</a:t>
            </a:r>
            <a:r>
              <a:rPr lang="pt-BR" dirty="0"/>
              <a:t>Limitações da programação </a:t>
            </a:r>
          </a:p>
          <a:p>
            <a:r>
              <a:rPr lang="pt-BR" dirty="0"/>
              <a:t>estruturada para sistemas complexos. A necessidade de modularidade e organização.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D211230-B238-0A91-C5BE-3E8C27B38949}"/>
              </a:ext>
            </a:extLst>
          </p:cNvPr>
          <p:cNvSpPr txBox="1"/>
          <p:nvPr/>
        </p:nvSpPr>
        <p:spPr>
          <a:xfrm>
            <a:off x="1057495" y="2638787"/>
            <a:ext cx="10609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Programação Orientada a Objeto: </a:t>
            </a:r>
            <a:r>
              <a:rPr lang="pt-BR" dirty="0"/>
              <a:t>O que são classes, funções, métodos, atributos, objetos e construtores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73CAE39-9D37-8C39-781F-BAA9A5218233}"/>
              </a:ext>
            </a:extLst>
          </p:cNvPr>
          <p:cNvSpPr txBox="1"/>
          <p:nvPr/>
        </p:nvSpPr>
        <p:spPr>
          <a:xfrm>
            <a:off x="1057495" y="3436776"/>
            <a:ext cx="999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Exercício Prático 1: </a:t>
            </a:r>
            <a:r>
              <a:rPr lang="pt-BR" dirty="0"/>
              <a:t>Sistema de Alunos (Nome, Idade, Média Ponderada, Aprovado ou Reprovado)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BA96C01-744D-B467-8AB7-D457D402FB65}"/>
              </a:ext>
            </a:extLst>
          </p:cNvPr>
          <p:cNvSpPr txBox="1"/>
          <p:nvPr/>
        </p:nvSpPr>
        <p:spPr>
          <a:xfrm>
            <a:off x="1057495" y="3898429"/>
            <a:ext cx="649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Exercício Prático 2: </a:t>
            </a:r>
            <a:r>
              <a:rPr lang="pt-BR" dirty="0"/>
              <a:t>Sistema que exiba a sequência de Fibonacci</a:t>
            </a:r>
          </a:p>
        </p:txBody>
      </p:sp>
    </p:spTree>
    <p:extLst>
      <p:ext uri="{BB962C8B-B14F-4D97-AF65-F5344CB8AC3E}">
        <p14:creationId xmlns:p14="http://schemas.microsoft.com/office/powerpoint/2010/main" val="3682410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15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444</Words>
  <Application>Microsoft Office PowerPoint</Application>
  <PresentationFormat>Widescreen</PresentationFormat>
  <Paragraphs>109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Calisto MT</vt:lpstr>
      <vt:lpstr>Univers Condensed</vt:lpstr>
      <vt:lpstr>ChronicleVTI</vt:lpstr>
      <vt:lpstr>Python - Fundamentos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Lógica básica</vt:lpstr>
      <vt:lpstr>Apresentação do PowerPoint</vt:lpstr>
      <vt:lpstr>Apresentação do PowerPoint</vt:lpstr>
      <vt:lpstr>Apresentação do PowerPoint</vt:lpstr>
      <vt:lpstr>Apresentação do PowerPoint</vt:lpstr>
      <vt:lpstr>Estruturas de controle</vt:lpstr>
      <vt:lpstr>Apresentação do PowerPoint</vt:lpstr>
      <vt:lpstr>Estrutura de dados</vt:lpstr>
      <vt:lpstr>Apresentação do PowerPoint</vt:lpstr>
      <vt:lpstr>Apresentação do PowerPoint</vt:lpstr>
      <vt:lpstr>Para casa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Silvania</dc:creator>
  <cp:lastModifiedBy>Silvania</cp:lastModifiedBy>
  <cp:revision>4</cp:revision>
  <dcterms:created xsi:type="dcterms:W3CDTF">2025-12-06T00:08:07Z</dcterms:created>
  <dcterms:modified xsi:type="dcterms:W3CDTF">2026-01-19T17:00:25Z</dcterms:modified>
</cp:coreProperties>
</file>