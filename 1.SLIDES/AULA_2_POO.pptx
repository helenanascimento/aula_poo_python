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sldIdLst>
    <p:sldId id="257" r:id="rId2"/>
    <p:sldId id="278" r:id="rId3"/>
    <p:sldId id="262" r:id="rId4"/>
    <p:sldId id="263" r:id="rId5"/>
    <p:sldId id="267" r:id="rId6"/>
    <p:sldId id="266" r:id="rId7"/>
    <p:sldId id="269" r:id="rId8"/>
    <p:sldId id="270" r:id="rId9"/>
    <p:sldId id="268" r:id="rId10"/>
    <p:sldId id="279" r:id="rId11"/>
    <p:sldId id="280" r:id="rId12"/>
    <p:sldId id="272" r:id="rId13"/>
    <p:sldId id="281" r:id="rId1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Estilo Mé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4" autoAdjust="0"/>
    <p:restoredTop sz="94660"/>
  </p:normalViewPr>
  <p:slideViewPr>
    <p:cSldViewPr snapToGrid="0">
      <p:cViewPr varScale="1">
        <p:scale>
          <a:sx n="98" d="100"/>
          <a:sy n="98" d="100"/>
        </p:scale>
        <p:origin x="66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0990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214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993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12/12/2025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7436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12/12/2025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8406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12/12/2025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822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12/12/2025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0739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12/12/2025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3962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12/12/2025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3851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2787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1193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18734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66" r:id="rId6"/>
    <p:sldLayoutId id="2147483662" r:id="rId7"/>
    <p:sldLayoutId id="2147483663" r:id="rId8"/>
    <p:sldLayoutId id="2147483664" r:id="rId9"/>
    <p:sldLayoutId id="2147483665" r:id="rId10"/>
    <p:sldLayoutId id="2147483667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DEF92653-5D6D-47E6-8744-0DAF76E049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00F87EA-7C39-E29B-FB4F-467A9F04F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7724" y="3429000"/>
            <a:ext cx="10283452" cy="70939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/>
              <a:t>python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CA98CE3-81A7-4FFE-A047-9AA65998D8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8D91C2B-BDB9-49BE-9C44-E0CFE597AB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ítulo 1">
            <a:extLst>
              <a:ext uri="{FF2B5EF4-FFF2-40B4-BE49-F238E27FC236}">
                <a16:creationId xmlns:a16="http://schemas.microsoft.com/office/drawing/2014/main" id="{1BB76DFC-5C2E-6AFF-DEBC-542AB08DBE41}"/>
              </a:ext>
            </a:extLst>
          </p:cNvPr>
          <p:cNvSpPr txBox="1">
            <a:spLocks/>
          </p:cNvSpPr>
          <p:nvPr/>
        </p:nvSpPr>
        <p:spPr>
          <a:xfrm>
            <a:off x="847724" y="1024159"/>
            <a:ext cx="10283452" cy="255724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/>
              <a:t>PROGRAMAÇÃO ORIENTADA A OBJETO (POO)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A1C88A2C-52E3-1B79-C8D3-8148B6EC1A2E}"/>
              </a:ext>
            </a:extLst>
          </p:cNvPr>
          <p:cNvSpPr txBox="1">
            <a:spLocks/>
          </p:cNvSpPr>
          <p:nvPr/>
        </p:nvSpPr>
        <p:spPr>
          <a:xfrm>
            <a:off x="8112642" y="5124449"/>
            <a:ext cx="3125084" cy="7093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/>
              <a:t>Prof: Helena</a:t>
            </a:r>
          </a:p>
        </p:txBody>
      </p:sp>
    </p:spTree>
    <p:extLst>
      <p:ext uri="{BB962C8B-B14F-4D97-AF65-F5344CB8AC3E}">
        <p14:creationId xmlns:p14="http://schemas.microsoft.com/office/powerpoint/2010/main" val="11944409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479833C7-FDE4-4657-B0B1-32BE833C24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15">
            <a:extLst>
              <a:ext uri="{FF2B5EF4-FFF2-40B4-BE49-F238E27FC236}">
                <a16:creationId xmlns:a16="http://schemas.microsoft.com/office/drawing/2014/main" id="{0ABE7C0B-A2D9-4202-A524-532DA2E2D5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Espaço Reservado para Conteúdo 4" descr="Interface gráfica do usuário, Diagrama&#10;&#10;O conteúdo gerado por IA pode estar incorreto.">
            <a:extLst>
              <a:ext uri="{FF2B5EF4-FFF2-40B4-BE49-F238E27FC236}">
                <a16:creationId xmlns:a16="http://schemas.microsoft.com/office/drawing/2014/main" id="{2FAFFD7A-C7F9-4033-F053-80C6E61C93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47"/>
          <a:stretch>
            <a:fillRect/>
          </a:stretch>
        </p:blipFill>
        <p:spPr>
          <a:xfrm>
            <a:off x="20" y="10"/>
            <a:ext cx="12191979" cy="6857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22361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8C048611-791A-466A-A5C1-B0415D43DD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ABE7C0B-A2D9-4202-A524-532DA2E2D5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m 4" descr="Logotipo&#10;&#10;O conteúdo gerado por IA pode estar incorreto.">
            <a:extLst>
              <a:ext uri="{FF2B5EF4-FFF2-40B4-BE49-F238E27FC236}">
                <a16:creationId xmlns:a16="http://schemas.microsoft.com/office/drawing/2014/main" id="{74DFDDA7-81F9-2600-0493-BBBDC786C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842" b="3159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D0E884A-93C9-44E4-842F-5B6C251F8C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476" y="723900"/>
            <a:ext cx="10610474" cy="0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25400" dir="2700000" sx="99000" sy="99000" algn="tl" rotWithShape="0">
              <a:prstClr val="black">
                <a:alpha val="2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10EB31C-CD53-48C2-A9BE-DFB0681AE3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10591800" cy="0"/>
          </a:xfrm>
          <a:prstGeom prst="line">
            <a:avLst/>
          </a:prstGeom>
          <a:ln w="12700">
            <a:solidFill>
              <a:srgbClr val="FFFFFF"/>
            </a:solidFill>
          </a:ln>
          <a:effectLst>
            <a:outerShdw blurRad="50800" dist="25400" dir="2700000" sx="99000" sy="99000" algn="tl" rotWithShape="0">
              <a:prstClr val="black">
                <a:alpha val="2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11583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DEF92653-5D6D-47E6-8744-0DAF76E049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CA98CE3-81A7-4FFE-A047-9AA65998D8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8D91C2B-BDB9-49BE-9C44-E0CFE597AB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aixaDeTexto 3">
            <a:extLst>
              <a:ext uri="{FF2B5EF4-FFF2-40B4-BE49-F238E27FC236}">
                <a16:creationId xmlns:a16="http://schemas.microsoft.com/office/drawing/2014/main" id="{0B2D5083-0B9C-E8E8-A178-474042614848}"/>
              </a:ext>
            </a:extLst>
          </p:cNvPr>
          <p:cNvSpPr txBox="1"/>
          <p:nvPr/>
        </p:nvSpPr>
        <p:spPr>
          <a:xfrm>
            <a:off x="1286540" y="1414130"/>
            <a:ext cx="3522439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Funções (</a:t>
            </a:r>
            <a:r>
              <a:rPr lang="pt-BR" dirty="0" err="1"/>
              <a:t>def</a:t>
            </a:r>
            <a:r>
              <a:rPr lang="pt-BR" dirty="0"/>
              <a:t>):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Abstração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Programação Estruturada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Definindo funções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Resultado de funções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Variáveis locais e globais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Argumentos de funções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Argumentos default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F3EECE9C-83FF-1439-EAE4-97DE0404121F}"/>
              </a:ext>
            </a:extLst>
          </p:cNvPr>
          <p:cNvSpPr txBox="1"/>
          <p:nvPr/>
        </p:nvSpPr>
        <p:spPr>
          <a:xfrm>
            <a:off x="6565504" y="1414130"/>
            <a:ext cx="297068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Classes (</a:t>
            </a:r>
            <a:r>
              <a:rPr lang="pt-BR" dirty="0" err="1"/>
              <a:t>class</a:t>
            </a:r>
            <a:r>
              <a:rPr lang="pt-BR" dirty="0"/>
              <a:t>) – Part 1: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Orientação a Objeto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Objetos em Python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Abstração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3152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D0D01C-32FA-A70D-7630-66AFEF3E5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0C115CF-9187-AA45-B0B1-10C217982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7880B00-C832-6559-8CCC-0704831A64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6614BC89-270A-CF7E-A89D-1AFB869686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65C8039-C840-6008-861B-0E3C1FF76D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9B0D8E8-1825-17FE-EBFB-4D6088E67B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aixaDeTexto 4">
            <a:extLst>
              <a:ext uri="{FF2B5EF4-FFF2-40B4-BE49-F238E27FC236}">
                <a16:creationId xmlns:a16="http://schemas.microsoft.com/office/drawing/2014/main" id="{6522FECB-F2E3-5107-592B-C761F6D6468D}"/>
              </a:ext>
            </a:extLst>
          </p:cNvPr>
          <p:cNvSpPr txBox="1"/>
          <p:nvPr/>
        </p:nvSpPr>
        <p:spPr>
          <a:xfrm>
            <a:off x="1934091" y="3105835"/>
            <a:ext cx="8323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Antes de falarmos sobre POO, vamos falar mais um pouco sobre estrutura de dados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43133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03DD14-48DB-B3C3-7D2C-78284449B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1" name="Straight Connector 34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36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38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pic>
        <p:nvPicPr>
          <p:cNvPr id="18" name="Picture 17" descr="Gota d'água em uma pétala">
            <a:extLst>
              <a:ext uri="{FF2B5EF4-FFF2-40B4-BE49-F238E27FC236}">
                <a16:creationId xmlns:a16="http://schemas.microsoft.com/office/drawing/2014/main" id="{42E95CEB-F7A1-CF9D-97C0-1A90515672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78" t="7332" r="1755" b="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54" name="Rectangle 40">
            <a:extLst>
              <a:ext uri="{FF2B5EF4-FFF2-40B4-BE49-F238E27FC236}">
                <a16:creationId xmlns:a16="http://schemas.microsoft.com/office/drawing/2014/main" id="{857DEAC1-B3AA-6569-0A44-A191DF2F3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486401"/>
            <a:ext cx="12191999" cy="1371600"/>
          </a:xfrm>
          <a:prstGeom prst="rect">
            <a:avLst/>
          </a:prstGeom>
          <a:solidFill>
            <a:schemeClr val="bg1">
              <a:alpha val="2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4A23077-7CD7-369A-AFAD-9ADCDF7ACF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040" y="5715007"/>
            <a:ext cx="7983070" cy="958655"/>
          </a:xfr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 err="1"/>
              <a:t>funções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9903819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4C9245-096D-1139-811B-6564198F5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41533F8-85B6-7518-DF20-73FCDA3C37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985D0A-CE1E-3848-07AA-B51C191046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56CC7691-C2E2-AA01-F1FE-CFED528EC7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3E615B1-8809-7E99-3D2C-70495AD539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9F387BF-16DC-0CC1-BF57-A662AFAFA0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ixaDeTexto 1">
            <a:extLst>
              <a:ext uri="{FF2B5EF4-FFF2-40B4-BE49-F238E27FC236}">
                <a16:creationId xmlns:a16="http://schemas.microsoft.com/office/drawing/2014/main" id="{31DAAFC6-29B9-05C7-BBD8-41C5DF42B9AA}"/>
              </a:ext>
            </a:extLst>
          </p:cNvPr>
          <p:cNvSpPr txBox="1"/>
          <p:nvPr/>
        </p:nvSpPr>
        <p:spPr>
          <a:xfrm>
            <a:off x="1364305" y="2522807"/>
            <a:ext cx="12394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Abstração:</a:t>
            </a:r>
          </a:p>
          <a:p>
            <a:endParaRPr lang="pt-BR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390631B0-7E5B-79BE-85D9-9B49AFE2063D}"/>
              </a:ext>
            </a:extLst>
          </p:cNvPr>
          <p:cNvSpPr txBox="1"/>
          <p:nvPr/>
        </p:nvSpPr>
        <p:spPr>
          <a:xfrm>
            <a:off x="1643165" y="3106032"/>
            <a:ext cx="9282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Processo de ocultar detalhes de implementação e expor apenas o que é necessário para o uso.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A4BD7CF-0986-BCF7-EEE8-52147855A268}"/>
              </a:ext>
            </a:extLst>
          </p:cNvPr>
          <p:cNvSpPr txBox="1"/>
          <p:nvPr/>
        </p:nvSpPr>
        <p:spPr>
          <a:xfrm>
            <a:off x="1643165" y="3965861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solidFill>
                  <a:srgbClr val="00B050"/>
                </a:solidFill>
              </a:rPr>
              <a:t>print</a:t>
            </a:r>
            <a:r>
              <a:rPr lang="pt-BR" dirty="0"/>
              <a:t> (‘olá’)</a:t>
            </a:r>
          </a:p>
        </p:txBody>
      </p:sp>
    </p:spTree>
    <p:extLst>
      <p:ext uri="{BB962C8B-B14F-4D97-AF65-F5344CB8AC3E}">
        <p14:creationId xmlns:p14="http://schemas.microsoft.com/office/powerpoint/2010/main" val="27544723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0E4ACF-7528-42AF-9A8E-F26C9397C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4376896-072C-C6AA-37E5-74633272F3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99B0ED-C1C2-20BB-E7C8-3BDBD5ACA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DDB87D1F-423B-1951-756D-25D6ED0D7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A06BE7F-9062-0D77-AA24-9C94A22071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4AAC300-DED2-E8FF-B450-E1D9E50F8D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aixaDeTexto 8">
            <a:extLst>
              <a:ext uri="{FF2B5EF4-FFF2-40B4-BE49-F238E27FC236}">
                <a16:creationId xmlns:a16="http://schemas.microsoft.com/office/drawing/2014/main" id="{C7D42661-0B08-3BEC-D97C-03EB8C74B2EE}"/>
              </a:ext>
            </a:extLst>
          </p:cNvPr>
          <p:cNvSpPr txBox="1"/>
          <p:nvPr/>
        </p:nvSpPr>
        <p:spPr>
          <a:xfrm>
            <a:off x="800100" y="1124635"/>
            <a:ext cx="38238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Funções e Programação Estruturada:</a:t>
            </a:r>
          </a:p>
          <a:p>
            <a:endParaRPr lang="pt-BR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A10D0E11-1CA8-B6CB-E094-CAE3EF2BE21F}"/>
              </a:ext>
            </a:extLst>
          </p:cNvPr>
          <p:cNvSpPr txBox="1"/>
          <p:nvPr/>
        </p:nvSpPr>
        <p:spPr>
          <a:xfrm>
            <a:off x="1150296" y="1848534"/>
            <a:ext cx="27786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Programação Estruturada:</a:t>
            </a:r>
          </a:p>
          <a:p>
            <a:endParaRPr lang="pt-BR" dirty="0"/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DCFD5B1C-64B3-DBC6-572C-4337DFBC771A}"/>
              </a:ext>
            </a:extLst>
          </p:cNvPr>
          <p:cNvSpPr txBox="1"/>
          <p:nvPr/>
        </p:nvSpPr>
        <p:spPr>
          <a:xfrm>
            <a:off x="1599937" y="2248331"/>
            <a:ext cx="309571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É um paradigma baseado em:</a:t>
            </a:r>
          </a:p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Sequência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Decisão(</a:t>
            </a:r>
            <a:r>
              <a:rPr lang="pt-BR" dirty="0" err="1"/>
              <a:t>if</a:t>
            </a:r>
            <a:r>
              <a:rPr lang="pt-BR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Repetição (for, </a:t>
            </a:r>
            <a:r>
              <a:rPr lang="pt-BR" dirty="0" err="1"/>
              <a:t>while</a:t>
            </a:r>
            <a:r>
              <a:rPr lang="pt-BR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Funções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  <a:p>
            <a:r>
              <a:rPr lang="pt-BR" dirty="0"/>
              <a:t>Funções Permitem:</a:t>
            </a:r>
          </a:p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Modularização do código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Reutilização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Melhor legibilidade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Manutenção Facilitada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238708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EE503B-7AB2-85D4-C57F-7A130FFE3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E210027-9F29-BF02-0FAD-C758E371D8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0A1E2CA-4527-4970-D3BB-7423A68BFF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0F471CD-9C6B-E8E1-A938-B6CF7B3E64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F2FA304-532E-190E-7908-FD2E332E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A0062D8-7FCA-08C7-A57F-8E9559897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ixaDeTexto 1">
            <a:extLst>
              <a:ext uri="{FF2B5EF4-FFF2-40B4-BE49-F238E27FC236}">
                <a16:creationId xmlns:a16="http://schemas.microsoft.com/office/drawing/2014/main" id="{4D351EB8-DA99-6043-5C5C-37BB127D0583}"/>
              </a:ext>
            </a:extLst>
          </p:cNvPr>
          <p:cNvSpPr txBox="1"/>
          <p:nvPr/>
        </p:nvSpPr>
        <p:spPr>
          <a:xfrm>
            <a:off x="800100" y="1124635"/>
            <a:ext cx="26759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Estrutura de uma função:</a:t>
            </a:r>
          </a:p>
          <a:p>
            <a:endParaRPr lang="pt-BR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3B40C37-E111-EC84-5F51-C526963B5223}"/>
              </a:ext>
            </a:extLst>
          </p:cNvPr>
          <p:cNvSpPr txBox="1"/>
          <p:nvPr/>
        </p:nvSpPr>
        <p:spPr>
          <a:xfrm>
            <a:off x="800100" y="4311246"/>
            <a:ext cx="2252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O que é uma função?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292E88E6-7B3F-690C-37DC-73D9309ADD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1375" y="2155157"/>
            <a:ext cx="2362530" cy="1771897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4AEB5B71-05DC-BD4D-88B4-8B39A1674A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9598" y="2155158"/>
            <a:ext cx="5687219" cy="1771896"/>
          </a:xfrm>
          <a:prstGeom prst="rect">
            <a:avLst/>
          </a:prstGeom>
        </p:spPr>
      </p:pic>
      <p:sp>
        <p:nvSpPr>
          <p:cNvPr id="17" name="CaixaDeTexto 16">
            <a:extLst>
              <a:ext uri="{FF2B5EF4-FFF2-40B4-BE49-F238E27FC236}">
                <a16:creationId xmlns:a16="http://schemas.microsoft.com/office/drawing/2014/main" id="{3D396A6E-1064-9CE3-1227-CFF51CE45CB5}"/>
              </a:ext>
            </a:extLst>
          </p:cNvPr>
          <p:cNvSpPr txBox="1"/>
          <p:nvPr/>
        </p:nvSpPr>
        <p:spPr>
          <a:xfrm>
            <a:off x="1871375" y="4906998"/>
            <a:ext cx="90470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Função é um bloco de código reutilizável que executa uma tarefa específica e pode receber </a:t>
            </a:r>
          </a:p>
          <a:p>
            <a:r>
              <a:rPr lang="pt-BR" dirty="0"/>
              <a:t>dados (parâmetros) e retornar um resultado.</a:t>
            </a:r>
          </a:p>
        </p:txBody>
      </p:sp>
    </p:spTree>
    <p:extLst>
      <p:ext uri="{BB962C8B-B14F-4D97-AF65-F5344CB8AC3E}">
        <p14:creationId xmlns:p14="http://schemas.microsoft.com/office/powerpoint/2010/main" val="19433707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E47586-F3AB-129F-DFAC-028F4B331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3BA81EB-ED0D-0FF7-D0C6-BE031F5C50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EB4618B-1439-BA63-5CE3-95555DC7AB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D67BAE3A-C5A6-0E67-C6EC-F66D36808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C44408C-EBA6-E494-BA8C-C80CDACBA6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78D3064-4BC4-83C9-6760-C4F8DF3F79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ixaDeTexto 1">
            <a:extLst>
              <a:ext uri="{FF2B5EF4-FFF2-40B4-BE49-F238E27FC236}">
                <a16:creationId xmlns:a16="http://schemas.microsoft.com/office/drawing/2014/main" id="{48725E9C-5A0B-47E7-2AA5-024831EE567A}"/>
              </a:ext>
            </a:extLst>
          </p:cNvPr>
          <p:cNvSpPr txBox="1"/>
          <p:nvPr/>
        </p:nvSpPr>
        <p:spPr>
          <a:xfrm>
            <a:off x="800100" y="1124635"/>
            <a:ext cx="19534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Variáveis Globais:</a:t>
            </a:r>
          </a:p>
          <a:p>
            <a:endParaRPr lang="pt-BR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14566CC-D7AE-4812-44ED-0FC2D1152A5B}"/>
              </a:ext>
            </a:extLst>
          </p:cNvPr>
          <p:cNvSpPr txBox="1"/>
          <p:nvPr/>
        </p:nvSpPr>
        <p:spPr>
          <a:xfrm>
            <a:off x="1229349" y="4036931"/>
            <a:ext cx="1130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Exemplo: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766E9EEA-6030-5760-E156-977D503903B2}"/>
              </a:ext>
            </a:extLst>
          </p:cNvPr>
          <p:cNvSpPr txBox="1"/>
          <p:nvPr/>
        </p:nvSpPr>
        <p:spPr>
          <a:xfrm>
            <a:off x="1229349" y="1543764"/>
            <a:ext cx="36372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Criada fora da função</a:t>
            </a:r>
          </a:p>
          <a:p>
            <a:r>
              <a:rPr lang="pt-BR" dirty="0"/>
              <a:t>Pode ser acessada dentro da função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5C393E0A-FCC6-921A-5B24-00EABCE88D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956" y="2412772"/>
            <a:ext cx="2000529" cy="150516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D231CE68-7142-EAA2-F205-5887E37E75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7956" y="4625369"/>
            <a:ext cx="2762636" cy="1286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6726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9C2CA3-50B8-C73E-60D3-699F19FAD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358F873-E2E0-1D57-FC9E-E093BEE452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CAC9A71-B500-C62B-AA08-5DAC0088A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DC1423D-54AF-C3F4-8B1A-9650668EF3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B4FF647-8F53-7E2F-4830-A26C5B4EE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0273F81-662D-F3B2-047C-19C8CE2C7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ixaDeTexto 1">
            <a:extLst>
              <a:ext uri="{FF2B5EF4-FFF2-40B4-BE49-F238E27FC236}">
                <a16:creationId xmlns:a16="http://schemas.microsoft.com/office/drawing/2014/main" id="{D96BDA4E-9184-FCD8-9BB3-9610F66BC614}"/>
              </a:ext>
            </a:extLst>
          </p:cNvPr>
          <p:cNvSpPr txBox="1"/>
          <p:nvPr/>
        </p:nvSpPr>
        <p:spPr>
          <a:xfrm>
            <a:off x="800100" y="1124635"/>
            <a:ext cx="27590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Funções com argumentos: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387287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8BD65D-3E29-5E7C-C048-3250D87E5D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1" name="Straight Connector 34">
            <a:extLst>
              <a:ext uri="{FF2B5EF4-FFF2-40B4-BE49-F238E27FC236}">
                <a16:creationId xmlns:a16="http://schemas.microsoft.com/office/drawing/2014/main" id="{3384C6A9-8787-85E3-C592-C2A0A0A1F4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36">
            <a:extLst>
              <a:ext uri="{FF2B5EF4-FFF2-40B4-BE49-F238E27FC236}">
                <a16:creationId xmlns:a16="http://schemas.microsoft.com/office/drawing/2014/main" id="{0347CF4D-A881-8004-5FD9-8DA45846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38">
            <a:extLst>
              <a:ext uri="{FF2B5EF4-FFF2-40B4-BE49-F238E27FC236}">
                <a16:creationId xmlns:a16="http://schemas.microsoft.com/office/drawing/2014/main" id="{61440361-388B-76B6-A5B0-96A23D3D05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pic>
        <p:nvPicPr>
          <p:cNvPr id="18" name="Picture 17" descr="Gota d'água em uma pétala">
            <a:extLst>
              <a:ext uri="{FF2B5EF4-FFF2-40B4-BE49-F238E27FC236}">
                <a16:creationId xmlns:a16="http://schemas.microsoft.com/office/drawing/2014/main" id="{3EEC3B78-8989-B257-DD7E-D7EB4AF20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78" t="7332" r="1755" b="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54" name="Rectangle 40">
            <a:extLst>
              <a:ext uri="{FF2B5EF4-FFF2-40B4-BE49-F238E27FC236}">
                <a16:creationId xmlns:a16="http://schemas.microsoft.com/office/drawing/2014/main" id="{BC4202BD-CDB2-10C7-C682-DCA0BB6C74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486401"/>
            <a:ext cx="12191999" cy="1371600"/>
          </a:xfrm>
          <a:prstGeom prst="rect">
            <a:avLst/>
          </a:prstGeom>
          <a:solidFill>
            <a:schemeClr val="bg1">
              <a:alpha val="2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061FCA0-4B98-A26C-E796-C40F86FBA0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040" y="5715007"/>
            <a:ext cx="7983070" cy="958655"/>
          </a:xfr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z="3600" dirty="0"/>
              <a:t>Programação orientada a objeto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42701409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0223A4-E03B-1BE7-8A62-4F08B0BEC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E119F30F-470B-38DF-31A5-493B6B42628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aixaDeTexto 8">
            <a:extLst>
              <a:ext uri="{FF2B5EF4-FFF2-40B4-BE49-F238E27FC236}">
                <a16:creationId xmlns:a16="http://schemas.microsoft.com/office/drawing/2014/main" id="{355899CD-B12D-C59B-F90B-BD496793D577}"/>
              </a:ext>
            </a:extLst>
          </p:cNvPr>
          <p:cNvSpPr txBox="1"/>
          <p:nvPr/>
        </p:nvSpPr>
        <p:spPr>
          <a:xfrm>
            <a:off x="334485" y="735285"/>
            <a:ext cx="4312605" cy="16847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pt-BR" dirty="0">
                <a:solidFill>
                  <a:schemeClr val="bg1"/>
                </a:solidFill>
              </a:rPr>
              <a:t>Definição de Classe e Objeto: "Uma classe é uma estrutura que define as propriedades (atributos) e comportamentos (métodos) que os objetos criados a partir dela terão."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6" name="Imagem 5" descr="Diagrama&#10;&#10;O conteúdo gerado por IA pode estar incorreto.">
            <a:extLst>
              <a:ext uri="{FF2B5EF4-FFF2-40B4-BE49-F238E27FC236}">
                <a16:creationId xmlns:a16="http://schemas.microsoft.com/office/drawing/2014/main" id="{74A3F7A7-0AC4-3D6F-B8AF-C77C1F321A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" b="26777"/>
          <a:stretch>
            <a:fillRect/>
          </a:stretch>
        </p:blipFill>
        <p:spPr>
          <a:xfrm>
            <a:off x="4981575" y="735286"/>
            <a:ext cx="6495042" cy="5419642"/>
          </a:xfrm>
          <a:prstGeom prst="rect">
            <a:avLst/>
          </a:prstGeom>
        </p:spPr>
      </p:pic>
      <p:sp>
        <p:nvSpPr>
          <p:cNvPr id="24" name="CaixaDeTexto 23">
            <a:extLst>
              <a:ext uri="{FF2B5EF4-FFF2-40B4-BE49-F238E27FC236}">
                <a16:creationId xmlns:a16="http://schemas.microsoft.com/office/drawing/2014/main" id="{96483BCB-0065-CA3B-592E-569746E0FE68}"/>
              </a:ext>
            </a:extLst>
          </p:cNvPr>
          <p:cNvSpPr txBox="1"/>
          <p:nvPr/>
        </p:nvSpPr>
        <p:spPr>
          <a:xfrm>
            <a:off x="334484" y="2750813"/>
            <a:ext cx="4312605" cy="205006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/>
          <a:p>
            <a:pPr algn="just"/>
            <a:r>
              <a:rPr lang="pt-BR" dirty="0">
                <a:solidFill>
                  <a:schemeClr val="bg1"/>
                </a:solidFill>
              </a:rPr>
              <a:t>1.Classe – Molde ou planta do objeto.</a:t>
            </a:r>
          </a:p>
          <a:p>
            <a:pPr algn="just"/>
            <a:r>
              <a:rPr lang="pt-BR" dirty="0">
                <a:solidFill>
                  <a:schemeClr val="bg1"/>
                </a:solidFill>
              </a:rPr>
              <a:t>2.Objeto – Instância criada a partir da classe.</a:t>
            </a:r>
          </a:p>
          <a:p>
            <a:pPr algn="just"/>
            <a:r>
              <a:rPr lang="pt-BR" dirty="0">
                <a:solidFill>
                  <a:schemeClr val="bg1"/>
                </a:solidFill>
              </a:rPr>
              <a:t>3.Atributos – Características do objeto (dados).</a:t>
            </a:r>
          </a:p>
          <a:p>
            <a:pPr algn="just"/>
            <a:r>
              <a:rPr lang="pt-BR" dirty="0">
                <a:solidFill>
                  <a:schemeClr val="bg1"/>
                </a:solidFill>
              </a:rPr>
              <a:t>4.Métodos – Ações que o objeto executa.</a:t>
            </a:r>
          </a:p>
          <a:p>
            <a:pPr algn="just"/>
            <a:r>
              <a:rPr lang="pt-BR" dirty="0">
                <a:solidFill>
                  <a:schemeClr val="bg1"/>
                </a:solidFill>
              </a:rPr>
              <a:t>5.Encapsulamento – Controle de acesso e organização do código.</a:t>
            </a:r>
          </a:p>
        </p:txBody>
      </p:sp>
    </p:spTree>
    <p:extLst>
      <p:ext uri="{BB962C8B-B14F-4D97-AF65-F5344CB8AC3E}">
        <p14:creationId xmlns:p14="http://schemas.microsoft.com/office/powerpoint/2010/main" val="1772306053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9A3DAB68-1F73-4392-98EF-464A80478404}">
  <we:reference id="wa104380862" version="3.0.0.0" store="pt-BR" storeType="OMEX"/>
  <we:alternateReferences>
    <we:reference id="WA104380862" version="3.0.0.0" store="WA104380862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419</TotalTime>
  <Words>267</Words>
  <Application>Microsoft Office PowerPoint</Application>
  <PresentationFormat>Widescreen</PresentationFormat>
  <Paragraphs>51</Paragraphs>
  <Slides>13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7" baseType="lpstr">
      <vt:lpstr>Arial</vt:lpstr>
      <vt:lpstr>Calisto MT</vt:lpstr>
      <vt:lpstr>Univers Condensed</vt:lpstr>
      <vt:lpstr>ChronicleVTI</vt:lpstr>
      <vt:lpstr>python</vt:lpstr>
      <vt:lpstr>Apresentação do PowerPoint</vt:lpstr>
      <vt:lpstr>Apresentação do PowerPoint</vt:lpstr>
      <vt:lpstr>Apresentação do PowerPoint</vt:lpstr>
      <vt:lpstr>Apresentação do PowerPoint</vt:lpstr>
      <vt:lpstr>funções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Programação orientada a objeto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Silvania</dc:creator>
  <cp:lastModifiedBy>Silvania</cp:lastModifiedBy>
  <cp:revision>5</cp:revision>
  <dcterms:created xsi:type="dcterms:W3CDTF">2025-12-06T00:08:07Z</dcterms:created>
  <dcterms:modified xsi:type="dcterms:W3CDTF">2025-12-13T02:00:37Z</dcterms:modified>
</cp:coreProperties>
</file>