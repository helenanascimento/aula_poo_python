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7" r:id="rId2"/>
    <p:sldId id="278" r:id="rId3"/>
    <p:sldId id="262" r:id="rId4"/>
    <p:sldId id="263" r:id="rId5"/>
    <p:sldId id="267" r:id="rId6"/>
    <p:sldId id="266" r:id="rId7"/>
    <p:sldId id="269" r:id="rId8"/>
    <p:sldId id="270" r:id="rId9"/>
    <p:sldId id="268" r:id="rId10"/>
    <p:sldId id="279" r:id="rId11"/>
    <p:sldId id="280" r:id="rId12"/>
    <p:sldId id="287" r:id="rId13"/>
    <p:sldId id="288" r:id="rId14"/>
    <p:sldId id="289" r:id="rId15"/>
    <p:sldId id="272" r:id="rId16"/>
    <p:sldId id="281" r:id="rId17"/>
    <p:sldId id="282" r:id="rId18"/>
    <p:sldId id="284" r:id="rId19"/>
    <p:sldId id="283" r:id="rId20"/>
    <p:sldId id="285" r:id="rId21"/>
    <p:sldId id="286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44" d="100"/>
          <a:sy n="44" d="100"/>
        </p:scale>
        <p:origin x="16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9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1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99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4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4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2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73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9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85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87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19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87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0F87EA-7C39-E29B-FB4F-467A9F04F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4" y="3429000"/>
            <a:ext cx="10283452" cy="7093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Python – </a:t>
            </a:r>
            <a:r>
              <a:rPr lang="en-US" sz="3600" dirty="0" err="1"/>
              <a:t>funções</a:t>
            </a:r>
            <a:r>
              <a:rPr lang="en-US" sz="3600" dirty="0"/>
              <a:t> e classes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1BB76DFC-5C2E-6AFF-DEBC-542AB08DBE41}"/>
              </a:ext>
            </a:extLst>
          </p:cNvPr>
          <p:cNvSpPr txBox="1">
            <a:spLocks/>
          </p:cNvSpPr>
          <p:nvPr/>
        </p:nvSpPr>
        <p:spPr>
          <a:xfrm>
            <a:off x="847724" y="1024159"/>
            <a:ext cx="10283452" cy="25572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/>
              <a:t>PROGRAMAÇÃO ORIENTADA A OBJETO (POO)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1C88A2C-52E3-1B79-C8D3-8148B6EC1A2E}"/>
              </a:ext>
            </a:extLst>
          </p:cNvPr>
          <p:cNvSpPr txBox="1">
            <a:spLocks/>
          </p:cNvSpPr>
          <p:nvPr/>
        </p:nvSpPr>
        <p:spPr>
          <a:xfrm>
            <a:off x="8112642" y="5124449"/>
            <a:ext cx="3125084" cy="7093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Prof: Helena</a:t>
            </a:r>
          </a:p>
        </p:txBody>
      </p:sp>
    </p:spTree>
    <p:extLst>
      <p:ext uri="{BB962C8B-B14F-4D97-AF65-F5344CB8AC3E}">
        <p14:creationId xmlns:p14="http://schemas.microsoft.com/office/powerpoint/2010/main" val="1194440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15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, Diagrama&#10;&#10;O conteúdo gerado por IA pode estar incorreto.">
            <a:extLst>
              <a:ext uri="{FF2B5EF4-FFF2-40B4-BE49-F238E27FC236}">
                <a16:creationId xmlns:a16="http://schemas.microsoft.com/office/drawing/2014/main" id="{2FAFFD7A-C7F9-4033-F053-80C6E61C93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7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3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C048611-791A-466A-A5C1-B0415D43D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74DFDDA7-81F9-2600-0493-BBBDC786C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42" b="31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0E884A-93C9-44E4-842F-5B6C251F8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476" y="723900"/>
            <a:ext cx="10610474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25400" dir="2700000" sx="99000" sy="99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0EB31C-CD53-48C2-A9BE-DFB0681AE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50800" dist="25400" dir="2700000" sx="99000" sy="99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158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2D5083-0B9C-E8E8-A178-474042614848}"/>
              </a:ext>
            </a:extLst>
          </p:cNvPr>
          <p:cNvSpPr txBox="1"/>
          <p:nvPr/>
        </p:nvSpPr>
        <p:spPr>
          <a:xfrm>
            <a:off x="1286540" y="1414130"/>
            <a:ext cx="352243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Funções (</a:t>
            </a:r>
            <a:r>
              <a:rPr lang="pt-BR" dirty="0" err="1"/>
              <a:t>def</a:t>
            </a:r>
            <a:r>
              <a:rPr lang="pt-BR" dirty="0"/>
              <a:t>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Abstração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Programação Estruturada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Definindo funções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Resultado de funções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Variáveis locais e globais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Argumentos de funções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Argumentos default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3EECE9C-83FF-1439-EAE4-97DE0404121F}"/>
              </a:ext>
            </a:extLst>
          </p:cNvPr>
          <p:cNvSpPr txBox="1"/>
          <p:nvPr/>
        </p:nvSpPr>
        <p:spPr>
          <a:xfrm>
            <a:off x="6565504" y="1414130"/>
            <a:ext cx="29706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Classes (</a:t>
            </a:r>
            <a:r>
              <a:rPr lang="pt-BR" dirty="0" err="1"/>
              <a:t>class</a:t>
            </a:r>
            <a:r>
              <a:rPr lang="pt-BR" dirty="0"/>
              <a:t>) – Part 1: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Orientação a Objeto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Objetos em Python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Abstração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15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0D01C-32FA-A70D-7630-66AFEF3E5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C115CF-9187-AA45-B0B1-10C217982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880B00-C832-6559-8CCC-0704831A6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14BC89-270A-CF7E-A89D-1AFB86968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5C8039-C840-6008-861B-0E3C1FF7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B0D8E8-1825-17FE-EBFB-4D6088E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6522FECB-F2E3-5107-592B-C761F6D6468D}"/>
              </a:ext>
            </a:extLst>
          </p:cNvPr>
          <p:cNvSpPr txBox="1"/>
          <p:nvPr/>
        </p:nvSpPr>
        <p:spPr>
          <a:xfrm>
            <a:off x="1934091" y="3105835"/>
            <a:ext cx="8323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Antes de falarmos sobre POO, vamos falar mais um pouco sobre estrutura de dados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313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3DD14-48DB-B3C3-7D2C-78284449B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3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8" name="Picture 17" descr="Gota d'água em uma pétala">
            <a:extLst>
              <a:ext uri="{FF2B5EF4-FFF2-40B4-BE49-F238E27FC236}">
                <a16:creationId xmlns:a16="http://schemas.microsoft.com/office/drawing/2014/main" id="{42E95CEB-F7A1-CF9D-97C0-1A905156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8" t="7332" r="1755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4" name="Rectangle 4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A23077-7CD7-369A-AFAD-9ADCDF7AC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/>
              <a:t>funções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90381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C9245-096D-1139-811B-6564198F5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1533F8-85B6-7518-DF20-73FCDA3C3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985D0A-CE1E-3848-07AA-B51C19104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6CC7691-C2E2-AA01-F1FE-CFED528EC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E615B1-8809-7E99-3D2C-70495AD53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F387BF-16DC-0CC1-BF57-A662AFAFA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31DAAFC6-29B9-05C7-BBD8-41C5DF42B9AA}"/>
              </a:ext>
            </a:extLst>
          </p:cNvPr>
          <p:cNvSpPr txBox="1"/>
          <p:nvPr/>
        </p:nvSpPr>
        <p:spPr>
          <a:xfrm>
            <a:off x="1364305" y="2522807"/>
            <a:ext cx="1239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Abstração: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90631B0-7E5B-79BE-85D9-9B49AFE2063D}"/>
              </a:ext>
            </a:extLst>
          </p:cNvPr>
          <p:cNvSpPr txBox="1"/>
          <p:nvPr/>
        </p:nvSpPr>
        <p:spPr>
          <a:xfrm>
            <a:off x="1643165" y="3106032"/>
            <a:ext cx="9282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Processo de ocultar detalhes de implementação e expor apenas o que é necessário para o uso.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4BD7CF-0986-BCF7-EEE8-52147855A268}"/>
              </a:ext>
            </a:extLst>
          </p:cNvPr>
          <p:cNvSpPr txBox="1"/>
          <p:nvPr/>
        </p:nvSpPr>
        <p:spPr>
          <a:xfrm>
            <a:off x="1643165" y="396586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print</a:t>
            </a:r>
            <a:r>
              <a:rPr lang="pt-BR" dirty="0"/>
              <a:t> (‘olá’)</a:t>
            </a:r>
          </a:p>
        </p:txBody>
      </p:sp>
    </p:spTree>
    <p:extLst>
      <p:ext uri="{BB962C8B-B14F-4D97-AF65-F5344CB8AC3E}">
        <p14:creationId xmlns:p14="http://schemas.microsoft.com/office/powerpoint/2010/main" val="2754472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E4ACF-7528-42AF-9A8E-F26C9397C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376896-072C-C6AA-37E5-74633272F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99B0ED-C1C2-20BB-E7C8-3BDBD5ACA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DB87D1F-423B-1951-756D-25D6ED0D7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A06BE7F-9062-0D77-AA24-9C94A2207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4AAC300-DED2-E8FF-B450-E1D9E50F8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C7D42661-0B08-3BEC-D97C-03EB8C74B2EE}"/>
              </a:ext>
            </a:extLst>
          </p:cNvPr>
          <p:cNvSpPr txBox="1"/>
          <p:nvPr/>
        </p:nvSpPr>
        <p:spPr>
          <a:xfrm>
            <a:off x="800100" y="1124635"/>
            <a:ext cx="3823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Funções e Programação Estruturada:</a:t>
            </a:r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10D0E11-1CA8-B6CB-E094-CAE3EF2BE21F}"/>
              </a:ext>
            </a:extLst>
          </p:cNvPr>
          <p:cNvSpPr txBox="1"/>
          <p:nvPr/>
        </p:nvSpPr>
        <p:spPr>
          <a:xfrm>
            <a:off x="1150296" y="1848534"/>
            <a:ext cx="2778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Programação Estruturada:</a:t>
            </a:r>
          </a:p>
          <a:p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CFD5B1C-64B3-DBC6-572C-4337DFBC771A}"/>
              </a:ext>
            </a:extLst>
          </p:cNvPr>
          <p:cNvSpPr txBox="1"/>
          <p:nvPr/>
        </p:nvSpPr>
        <p:spPr>
          <a:xfrm>
            <a:off x="1599937" y="2248331"/>
            <a:ext cx="309571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É um paradigma baseado em: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Sequência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Decisão(</a:t>
            </a:r>
            <a:r>
              <a:rPr lang="pt-BR" dirty="0" err="1"/>
              <a:t>if</a:t>
            </a:r>
            <a:r>
              <a:rPr lang="pt-B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Repetição (for, </a:t>
            </a:r>
            <a:r>
              <a:rPr lang="pt-BR" dirty="0" err="1"/>
              <a:t>while</a:t>
            </a:r>
            <a:r>
              <a:rPr lang="pt-B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Funções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/>
              <a:t>Funções Permitem: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Modularização do código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Reutilização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Melhor legibilidade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Manutenção Facilitada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3870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E503B-7AB2-85D4-C57F-7A130FFE3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210027-9F29-BF02-0FAD-C758E371D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A1E2CA-4527-4970-D3BB-7423A68BF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0F471CD-9C6B-E8E1-A938-B6CF7B3E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2FA304-532E-190E-7908-FD2E332E6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0062D8-7FCA-08C7-A57F-8E9559897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4D351EB8-DA99-6043-5C5C-37BB127D0583}"/>
              </a:ext>
            </a:extLst>
          </p:cNvPr>
          <p:cNvSpPr txBox="1"/>
          <p:nvPr/>
        </p:nvSpPr>
        <p:spPr>
          <a:xfrm>
            <a:off x="800100" y="1124635"/>
            <a:ext cx="26759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Estrutura de uma função: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B40C37-E111-EC84-5F51-C526963B5223}"/>
              </a:ext>
            </a:extLst>
          </p:cNvPr>
          <p:cNvSpPr txBox="1"/>
          <p:nvPr/>
        </p:nvSpPr>
        <p:spPr>
          <a:xfrm>
            <a:off x="800100" y="4311246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que é uma função?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92E88E6-7B3F-690C-37DC-73D9309AD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375" y="2155157"/>
            <a:ext cx="2362530" cy="177189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4AEB5B71-05DC-BD4D-88B4-8B39A1674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598" y="2155158"/>
            <a:ext cx="5687219" cy="1771896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3D396A6E-1064-9CE3-1227-CFF51CE45CB5}"/>
              </a:ext>
            </a:extLst>
          </p:cNvPr>
          <p:cNvSpPr txBox="1"/>
          <p:nvPr/>
        </p:nvSpPr>
        <p:spPr>
          <a:xfrm>
            <a:off x="1871375" y="4906998"/>
            <a:ext cx="9047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Função é um bloco de código reutilizável que executa uma tarefa específica e pode receber </a:t>
            </a:r>
          </a:p>
          <a:p>
            <a:r>
              <a:rPr lang="pt-BR" dirty="0"/>
              <a:t>dados (parâmetros) e retornar um resultado.</a:t>
            </a:r>
          </a:p>
        </p:txBody>
      </p:sp>
    </p:spTree>
    <p:extLst>
      <p:ext uri="{BB962C8B-B14F-4D97-AF65-F5344CB8AC3E}">
        <p14:creationId xmlns:p14="http://schemas.microsoft.com/office/powerpoint/2010/main" val="1943370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47586-F3AB-129F-DFAC-028F4B331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BA81EB-ED0D-0FF7-D0C6-BE031F5C5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B4618B-1439-BA63-5CE3-95555DC7A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67BAE3A-C5A6-0E67-C6EC-F66D36808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44408C-EBA6-E494-BA8C-C80CDACBA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8D3064-4BC4-83C9-6760-C4F8DF3F7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48725E9C-5A0B-47E7-2AA5-024831EE567A}"/>
              </a:ext>
            </a:extLst>
          </p:cNvPr>
          <p:cNvSpPr txBox="1"/>
          <p:nvPr/>
        </p:nvSpPr>
        <p:spPr>
          <a:xfrm>
            <a:off x="800100" y="1124635"/>
            <a:ext cx="1953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Variáveis Globais: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14566CC-D7AE-4812-44ED-0FC2D1152A5B}"/>
              </a:ext>
            </a:extLst>
          </p:cNvPr>
          <p:cNvSpPr txBox="1"/>
          <p:nvPr/>
        </p:nvSpPr>
        <p:spPr>
          <a:xfrm>
            <a:off x="1229349" y="4036931"/>
            <a:ext cx="1130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Exemplo: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66E9EEA-6030-5760-E156-977D503903B2}"/>
              </a:ext>
            </a:extLst>
          </p:cNvPr>
          <p:cNvSpPr txBox="1"/>
          <p:nvPr/>
        </p:nvSpPr>
        <p:spPr>
          <a:xfrm>
            <a:off x="1229349" y="1543764"/>
            <a:ext cx="3637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Criada fora da função</a:t>
            </a:r>
          </a:p>
          <a:p>
            <a:r>
              <a:rPr lang="pt-BR" dirty="0"/>
              <a:t>Pode ser acessada dentro da função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393E0A-FCC6-921A-5B24-00EABCE88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56" y="2412772"/>
            <a:ext cx="2000529" cy="150516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231CE68-7142-EAA2-F205-5887E37E7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56" y="4625369"/>
            <a:ext cx="2762636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72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9C2CA3-50B8-C73E-60D3-699F19FAD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58F873-E2E0-1D57-FC9E-E093BEE45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AC9A71-B500-C62B-AA08-5DAC0088A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DC1423D-54AF-C3F4-8B1A-9650668EF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4FF647-8F53-7E2F-4830-A26C5B4EE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273F81-662D-F3B2-047C-19C8CE2C7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D96BDA4E-9184-FCD8-9BB3-9610F66BC614}"/>
              </a:ext>
            </a:extLst>
          </p:cNvPr>
          <p:cNvSpPr txBox="1"/>
          <p:nvPr/>
        </p:nvSpPr>
        <p:spPr>
          <a:xfrm>
            <a:off x="800100" y="1124635"/>
            <a:ext cx="2759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Funções com argumentos: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9DA6960-2F73-2980-7785-868FC719BF1E}"/>
              </a:ext>
            </a:extLst>
          </p:cNvPr>
          <p:cNvSpPr txBox="1"/>
          <p:nvPr/>
        </p:nvSpPr>
        <p:spPr>
          <a:xfrm>
            <a:off x="800100" y="1656413"/>
            <a:ext cx="863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Os argumentos são definidos dentro dos parênteses na criação da função.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9CB1C80-3B49-19CB-BE5F-CD11D5021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06" y="2121033"/>
            <a:ext cx="3886742" cy="147658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2F2329E-2F35-74C1-651D-1E4961AEEFB7}"/>
              </a:ext>
            </a:extLst>
          </p:cNvPr>
          <p:cNvSpPr txBox="1"/>
          <p:nvPr/>
        </p:nvSpPr>
        <p:spPr>
          <a:xfrm>
            <a:off x="800100" y="3755337"/>
            <a:ext cx="8635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Eles também podem ser múltiplos: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7DA3302-3058-BF60-5412-4ADB0AB35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6" y="4282392"/>
            <a:ext cx="42195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72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F1465-151A-A8D5-BD3F-0A3EC8B11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6508F6-01D8-B7B5-5572-6E119CF6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1CCAB7-0348-DA05-E9FD-80B9767ED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0ACBFB-4F6B-7417-6BD8-E1E541CE5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20A0D1B-9FE8-2DB7-03E5-3D2FF426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2BB502-E213-1870-9D88-719DB90FE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71190DB-8071-C13C-01EB-3EC8682A5FDA}"/>
              </a:ext>
            </a:extLst>
          </p:cNvPr>
          <p:cNvSpPr txBox="1"/>
          <p:nvPr/>
        </p:nvSpPr>
        <p:spPr>
          <a:xfrm>
            <a:off x="800100" y="1124635"/>
            <a:ext cx="4165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Argumentos com Valor Padrão (Default)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6BA1052-BEEA-4ED6-A35B-21A714EEF890}"/>
              </a:ext>
            </a:extLst>
          </p:cNvPr>
          <p:cNvSpPr txBox="1"/>
          <p:nvPr/>
        </p:nvSpPr>
        <p:spPr>
          <a:xfrm>
            <a:off x="955741" y="1536933"/>
            <a:ext cx="10085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Às vezes, você precisa que um argumento tenha um valor pré-definido caso o usuário não envie nada.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E501E6-5331-E023-9B96-71B8F21B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06" y="2029256"/>
            <a:ext cx="6211167" cy="1190791"/>
          </a:xfrm>
          <a:prstGeom prst="rect">
            <a:avLst/>
          </a:prstGeom>
        </p:spPr>
      </p:pic>
      <p:sp>
        <p:nvSpPr>
          <p:cNvPr id="18" name="Rectangle 5">
            <a:extLst>
              <a:ext uri="{FF2B5EF4-FFF2-40B4-BE49-F238E27FC236}">
                <a16:creationId xmlns:a16="http://schemas.microsoft.com/office/drawing/2014/main" id="{2F0330D6-A637-3AEF-5C16-847B001A3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3609121"/>
            <a:ext cx="44551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Argumentos Arbitrários (*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args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**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kwargs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B4D9E9D-47BA-28CD-E316-47106B1339BF}"/>
              </a:ext>
            </a:extLst>
          </p:cNvPr>
          <p:cNvSpPr txBox="1"/>
          <p:nvPr/>
        </p:nvSpPr>
        <p:spPr>
          <a:xfrm>
            <a:off x="955741" y="3987133"/>
            <a:ext cx="86162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Se você não souber quantos argumentos serão passados, use estas sintaxes:</a:t>
            </a:r>
          </a:p>
          <a:p>
            <a:r>
              <a:rPr lang="pt-BR" dirty="0"/>
              <a:t>*</a:t>
            </a:r>
            <a:r>
              <a:rPr lang="pt-BR" dirty="0" err="1"/>
              <a:t>args</a:t>
            </a:r>
            <a:r>
              <a:rPr lang="pt-BR" dirty="0"/>
              <a:t>: Recebe múltiplos valores como uma </a:t>
            </a:r>
            <a:r>
              <a:rPr lang="pt-BR" b="1" dirty="0"/>
              <a:t>tupla</a:t>
            </a:r>
            <a:r>
              <a:rPr lang="pt-BR" dirty="0"/>
              <a:t>.</a:t>
            </a:r>
          </a:p>
          <a:p>
            <a:r>
              <a:rPr lang="pt-BR" dirty="0"/>
              <a:t>*</a:t>
            </a:r>
            <a:r>
              <a:rPr lang="pt-BR" dirty="0" err="1"/>
              <a:t>kwargs</a:t>
            </a:r>
            <a:r>
              <a:rPr lang="pt-BR" dirty="0"/>
              <a:t>: **Recebe múltiplos valores nomeados como um </a:t>
            </a:r>
            <a:r>
              <a:rPr lang="pt-BR" b="1" dirty="0"/>
              <a:t>dicionário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5678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F82CDC-ECD5-AF32-5908-C318D87FD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24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26">
            <a:extLst>
              <a:ext uri="{FF2B5EF4-FFF2-40B4-BE49-F238E27FC236}">
                <a16:creationId xmlns:a16="http://schemas.microsoft.com/office/drawing/2014/main" id="{93C2720B-5BC4-43B4-8F8F-7D4AD6386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34F5BD6-1B3B-4B21-9901-8258D047A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61085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0EF1ED33-7EC5-4DDA-82FB-7FD871FC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456" b="-3"/>
          <a:stretch>
            <a:fillRect/>
          </a:stretch>
        </p:blipFill>
        <p:spPr>
          <a:xfrm>
            <a:off x="800100" y="1066800"/>
            <a:ext cx="10591800" cy="472440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39E51F4-9F13-4C51-9CE0-0AEDA7FE3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5861"/>
            <a:ext cx="106013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392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6E1F4-67D3-DCD1-E37D-0F851D93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0">
            <a:extLst>
              <a:ext uri="{FF2B5EF4-FFF2-40B4-BE49-F238E27FC236}">
                <a16:creationId xmlns:a16="http://schemas.microsoft.com/office/drawing/2014/main" id="{24F26859-AE45-EC21-945A-B273DD21D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22">
            <a:extLst>
              <a:ext uri="{FF2B5EF4-FFF2-40B4-BE49-F238E27FC236}">
                <a16:creationId xmlns:a16="http://schemas.microsoft.com/office/drawing/2014/main" id="{105368BA-FAEF-44E0-B3E4-5DD5BC17B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24">
            <a:extLst>
              <a:ext uri="{FF2B5EF4-FFF2-40B4-BE49-F238E27FC236}">
                <a16:creationId xmlns:a16="http://schemas.microsoft.com/office/drawing/2014/main" id="{8EDA38ED-C8C6-995B-3624-277FDB0F7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26">
            <a:extLst>
              <a:ext uri="{FF2B5EF4-FFF2-40B4-BE49-F238E27FC236}">
                <a16:creationId xmlns:a16="http://schemas.microsoft.com/office/drawing/2014/main" id="{C2C227F7-9D0F-C40A-C8F6-02B25B0BD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F44465C-C8C6-B94F-3373-1723DF963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61085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A607B7-7F32-5DE0-DCCE-A6C9351E8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5861"/>
            <a:ext cx="106013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1F3C7079-DDE0-F3F8-AB4A-D05DB500B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11572"/>
            <a:ext cx="8942151" cy="267387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B414BBE-3BD2-7AED-D1AD-76771DF8E354}"/>
              </a:ext>
            </a:extLst>
          </p:cNvPr>
          <p:cNvSpPr txBox="1"/>
          <p:nvPr/>
        </p:nvSpPr>
        <p:spPr>
          <a:xfrm>
            <a:off x="800100" y="1124635"/>
            <a:ext cx="347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Resumo dos tipos de argumentos:</a:t>
            </a:r>
          </a:p>
        </p:txBody>
      </p:sp>
    </p:spTree>
    <p:extLst>
      <p:ext uri="{BB962C8B-B14F-4D97-AF65-F5344CB8AC3E}">
        <p14:creationId xmlns:p14="http://schemas.microsoft.com/office/powerpoint/2010/main" val="2489958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8BD65D-3E29-5E7C-C048-3250D87E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34">
            <a:extLst>
              <a:ext uri="{FF2B5EF4-FFF2-40B4-BE49-F238E27FC236}">
                <a16:creationId xmlns:a16="http://schemas.microsoft.com/office/drawing/2014/main" id="{3384C6A9-8787-85E3-C592-C2A0A0A1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0347CF4D-A881-8004-5FD9-8DA45846D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8">
            <a:extLst>
              <a:ext uri="{FF2B5EF4-FFF2-40B4-BE49-F238E27FC236}">
                <a16:creationId xmlns:a16="http://schemas.microsoft.com/office/drawing/2014/main" id="{61440361-388B-76B6-A5B0-96A23D3D0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8" name="Picture 17" descr="Gota d'água em uma pétala">
            <a:extLst>
              <a:ext uri="{FF2B5EF4-FFF2-40B4-BE49-F238E27FC236}">
                <a16:creationId xmlns:a16="http://schemas.microsoft.com/office/drawing/2014/main" id="{3EEC3B78-8989-B257-DD7E-D7EB4AF205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8" t="7332" r="1755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4" name="Rectangle 40">
            <a:extLst>
              <a:ext uri="{FF2B5EF4-FFF2-40B4-BE49-F238E27FC236}">
                <a16:creationId xmlns:a16="http://schemas.microsoft.com/office/drawing/2014/main" id="{BC4202BD-CDB2-10C7-C682-DCA0BB6C7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61FCA0-4B98-A26C-E796-C40F86FBA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3600" dirty="0"/>
              <a:t>Programação orientada a objeto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70140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223A4-E03B-1BE7-8A62-4F08B0BE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119F30F-470B-38DF-31A5-493B6B4262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355899CD-B12D-C59B-F90B-BD496793D577}"/>
              </a:ext>
            </a:extLst>
          </p:cNvPr>
          <p:cNvSpPr txBox="1"/>
          <p:nvPr/>
        </p:nvSpPr>
        <p:spPr>
          <a:xfrm>
            <a:off x="334485" y="735285"/>
            <a:ext cx="4312605" cy="1684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pt-BR" dirty="0">
                <a:solidFill>
                  <a:schemeClr val="bg1"/>
                </a:solidFill>
              </a:rPr>
              <a:t>Definição de Classe e Objeto: "Uma classe é uma estrutura que define as propriedades (atributos) e comportamentos (métodos) que os objetos criados a partir dela terão."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74A3F7A7-0AC4-3D6F-B8AF-C77C1F321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6777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96483BCB-0065-CA3B-592E-569746E0FE68}"/>
              </a:ext>
            </a:extLst>
          </p:cNvPr>
          <p:cNvSpPr txBox="1"/>
          <p:nvPr/>
        </p:nvSpPr>
        <p:spPr>
          <a:xfrm>
            <a:off x="334484" y="2750813"/>
            <a:ext cx="4312605" cy="20500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1.Classe – Molde ou planta do objeto.</a:t>
            </a:r>
          </a:p>
          <a:p>
            <a:pPr algn="just"/>
            <a:r>
              <a:rPr lang="pt-BR" dirty="0">
                <a:solidFill>
                  <a:schemeClr val="bg1"/>
                </a:solidFill>
              </a:rPr>
              <a:t>2.Objeto – Instância criada a partir da classe.</a:t>
            </a:r>
          </a:p>
          <a:p>
            <a:pPr algn="just"/>
            <a:r>
              <a:rPr lang="pt-BR" dirty="0">
                <a:solidFill>
                  <a:schemeClr val="bg1"/>
                </a:solidFill>
              </a:rPr>
              <a:t>3.Atributos – Características do objeto (dados).</a:t>
            </a:r>
          </a:p>
          <a:p>
            <a:pPr algn="just"/>
            <a:r>
              <a:rPr lang="pt-BR" dirty="0">
                <a:solidFill>
                  <a:schemeClr val="bg1"/>
                </a:solidFill>
              </a:rPr>
              <a:t>4.Métodos – Ações que o objeto executa.</a:t>
            </a:r>
          </a:p>
          <a:p>
            <a:pPr algn="just"/>
            <a:r>
              <a:rPr lang="pt-BR" dirty="0">
                <a:solidFill>
                  <a:schemeClr val="bg1"/>
                </a:solidFill>
              </a:rPr>
              <a:t>5.Encapsulamento – Controle de acesso e organização do código.</a:t>
            </a:r>
          </a:p>
        </p:txBody>
      </p:sp>
    </p:spTree>
    <p:extLst>
      <p:ext uri="{BB962C8B-B14F-4D97-AF65-F5344CB8AC3E}">
        <p14:creationId xmlns:p14="http://schemas.microsoft.com/office/powerpoint/2010/main" val="1772306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0B5EBF-BBAC-3C93-49A7-4B80AF056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D12EEB-3431-2F21-28DD-93E813D4F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0ADE4B3-5D12-618D-AA74-5F48409F4F85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0F860DD-7FD1-4EAA-67A2-FF941239C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396B94-7CA1-163A-336D-FA86F91EF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815" y="1236629"/>
            <a:ext cx="7591425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41F344D-6FBE-DD6D-753D-9B013BB055E9}"/>
              </a:ext>
            </a:extLst>
          </p:cNvPr>
          <p:cNvSpPr txBox="1"/>
          <p:nvPr/>
        </p:nvSpPr>
        <p:spPr>
          <a:xfrm>
            <a:off x="334485" y="735286"/>
            <a:ext cx="4312605" cy="501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en-US" dirty="0" err="1">
                <a:solidFill>
                  <a:schemeClr val="bg1"/>
                </a:solidFill>
              </a:rPr>
              <a:t>Exemplo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87496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CDF32B-2AC4-0FE5-1533-65BDF0677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F44C58E-940E-2423-0F7D-CC488AFC5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E2C4EC9-3A74-0364-C107-2D7CA41B0F9A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E158A68-47E5-1603-AB40-6A17F93A6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0BA7B395-FBD3-3608-DB07-0FE98A457044}"/>
              </a:ext>
            </a:extLst>
          </p:cNvPr>
          <p:cNvSpPr txBox="1"/>
          <p:nvPr/>
        </p:nvSpPr>
        <p:spPr>
          <a:xfrm>
            <a:off x="334485" y="735286"/>
            <a:ext cx="4312605" cy="501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en-US" dirty="0" err="1">
                <a:solidFill>
                  <a:schemeClr val="bg1"/>
                </a:solidFill>
              </a:rPr>
              <a:t>Criando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Objetos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81BF8C3-34D9-494C-6756-C8FD8039A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779" y="458732"/>
            <a:ext cx="466725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8F2A4CA-A9C4-EA39-7F51-28C96A6D4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779" y="2049736"/>
            <a:ext cx="620077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72FD709-5257-8B4F-0122-7A0641AA1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779" y="3916965"/>
            <a:ext cx="622935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0647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2CF34-1DE3-2D23-4964-CF047504D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678B9FD-CD7E-1ED6-67D7-4DB91933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5E6B0EB-41FB-3B66-BF6B-337057BD9809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0C49BE-482C-5932-68F5-7D24A551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3E30C-8D3B-CAB3-026C-619F68A1BCC4}"/>
              </a:ext>
            </a:extLst>
          </p:cNvPr>
          <p:cNvSpPr txBox="1"/>
          <p:nvPr/>
        </p:nvSpPr>
        <p:spPr>
          <a:xfrm>
            <a:off x="334485" y="735286"/>
            <a:ext cx="4312605" cy="501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Na </a:t>
            </a:r>
            <a:r>
              <a:rPr lang="en-US" dirty="0" err="1">
                <a:solidFill>
                  <a:schemeClr val="bg1"/>
                </a:solidFill>
              </a:rPr>
              <a:t>prática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79D7DDD-62B3-AA65-C462-011104224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635" y="1637377"/>
            <a:ext cx="4829849" cy="305795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F8F41CA-38E1-9D39-532B-D208C5DA8D88}"/>
              </a:ext>
            </a:extLst>
          </p:cNvPr>
          <p:cNvSpPr txBox="1"/>
          <p:nvPr/>
        </p:nvSpPr>
        <p:spPr>
          <a:xfrm>
            <a:off x="1272635" y="5453499"/>
            <a:ext cx="10108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 err="1">
                <a:solidFill>
                  <a:srgbClr val="E3E3E3"/>
                </a:solidFill>
                <a:effectLst/>
                <a:latin typeface="Google Sans Text"/>
              </a:rPr>
              <a:t>obs</a:t>
            </a:r>
            <a:r>
              <a:rPr lang="pt-BR" b="0" i="0" dirty="0">
                <a:solidFill>
                  <a:srgbClr val="E3E3E3"/>
                </a:solidFill>
                <a:effectLst/>
                <a:latin typeface="Google Sans Text"/>
              </a:rPr>
              <a:t>: O método __</a:t>
            </a:r>
            <a:r>
              <a:rPr lang="pt-BR" b="0" i="0" dirty="0" err="1">
                <a:solidFill>
                  <a:srgbClr val="E3E3E3"/>
                </a:solidFill>
                <a:effectLst/>
                <a:latin typeface="Google Sans Text"/>
              </a:rPr>
              <a:t>init</a:t>
            </a:r>
            <a:r>
              <a:rPr lang="pt-BR" b="0" i="0" dirty="0">
                <a:solidFill>
                  <a:srgbClr val="E3E3E3"/>
                </a:solidFill>
                <a:effectLst/>
                <a:latin typeface="Google Sans Text"/>
              </a:rPr>
              <a:t> __, é um método especial denominado construtor da classe. Esse método é chamado automaticamente ao se criar o objeto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B5B9582-5F19-48A5-3249-962281A11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983" y="2237536"/>
            <a:ext cx="3581900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98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E9A9D-7CD0-03F2-7392-AC20FE2B2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715DCDC-3FBE-54ED-09F8-2C3EE4EA1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AB5B13B-FD7F-284E-14BC-6366261B129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7460AB9-9394-50E9-073B-7B68CBFF3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7DEF99-2B30-456C-20F8-B63CE10FB7A6}"/>
              </a:ext>
            </a:extLst>
          </p:cNvPr>
          <p:cNvSpPr txBox="1"/>
          <p:nvPr/>
        </p:nvSpPr>
        <p:spPr>
          <a:xfrm>
            <a:off x="416601" y="579941"/>
            <a:ext cx="50697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Encapsulamento</a:t>
            </a:r>
          </a:p>
          <a:p>
            <a:r>
              <a:rPr lang="pt-BR" dirty="0">
                <a:solidFill>
                  <a:schemeClr val="bg1"/>
                </a:solidFill>
              </a:rPr>
              <a:t>Conversão é usada para indicar proteção.</a:t>
            </a:r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DD8C0E7-7F35-2372-ABD1-8E32019AA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117" y="1645706"/>
            <a:ext cx="5668166" cy="283884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5675D49-115D-379B-05B5-ABE33FFB5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117" y="4741031"/>
            <a:ext cx="3886742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66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F0BB2-95DE-DE0C-8A25-4ED14CCDD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A68B06C-114D-8459-332E-8B062A40D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BB267EA-4249-BB4B-B912-FB0821B6BCC1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2B2EE3D-22F1-AA1F-7DFE-F7059C3CB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0CA583C1-F46E-7224-4741-5156333FC0C1}"/>
              </a:ext>
            </a:extLst>
          </p:cNvPr>
          <p:cNvSpPr txBox="1"/>
          <p:nvPr/>
        </p:nvSpPr>
        <p:spPr>
          <a:xfrm>
            <a:off x="416601" y="579941"/>
            <a:ext cx="5069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Outros exemplos: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1AD49DF-29CE-D157-7F32-54D231D79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73" y="1601933"/>
            <a:ext cx="4267796" cy="13813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8E04A68-130D-8D00-1AB1-F47953894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73" y="3214446"/>
            <a:ext cx="2629267" cy="50489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1FC54A8-2576-307A-C807-F5624FBE4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73" y="3950536"/>
            <a:ext cx="2629267" cy="34294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FF135E0-5EC5-D431-CE95-5E84888E2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516710"/>
            <a:ext cx="6268325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3100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A3DAB68-1F73-4392-98EF-464A80478404}">
  <we:reference id="wa104380862" version="3.0.0.0" store="pt-BR" storeType="OMEX"/>
  <we:alternateReferences>
    <we:reference id="WA104380862" version="3.0.0.0" store="WA10438086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408</Words>
  <Application>Microsoft Office PowerPoint</Application>
  <PresentationFormat>Widescreen</PresentationFormat>
  <Paragraphs>67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Calisto MT</vt:lpstr>
      <vt:lpstr>Google Sans Text</vt:lpstr>
      <vt:lpstr>Univers Condensed</vt:lpstr>
      <vt:lpstr>ChronicleVTI</vt:lpstr>
      <vt:lpstr>Python – funções e classes</vt:lpstr>
      <vt:lpstr>Apresentação do PowerPoint</vt:lpstr>
      <vt:lpstr>Apresentação do PowerPoint</vt:lpstr>
      <vt:lpstr>Apresentação do PowerPoint</vt:lpstr>
      <vt:lpstr>Apresentação do PowerPoint</vt:lpstr>
      <vt:lpstr>funções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Programação orientada a objeto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Silvania</dc:creator>
  <cp:lastModifiedBy>Silvania</cp:lastModifiedBy>
  <cp:revision>9</cp:revision>
  <dcterms:created xsi:type="dcterms:W3CDTF">2025-12-06T00:08:07Z</dcterms:created>
  <dcterms:modified xsi:type="dcterms:W3CDTF">2026-01-19T17:01:16Z</dcterms:modified>
</cp:coreProperties>
</file>